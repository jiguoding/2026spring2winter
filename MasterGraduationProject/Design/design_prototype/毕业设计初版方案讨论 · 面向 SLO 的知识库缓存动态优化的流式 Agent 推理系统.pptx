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 type="custom"/>
  <p:notesSz cx="12192000" cy="6858000"/>
  <p:embeddedFontLst>
    <p:embeddedFont>
      <p:font typeface="MiSans" charset="-122" pitchFamily="34"/>
      <p:regular r:id="rId20"/>
    </p:embeddedFont>
    <p:embeddedFont>
      <p:font typeface="思源宋体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-block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812800" y="10668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300" kern="0">
                <a:solidFill>
                  <a:srgbClr val="155E52"/>
                </a:solidFill>
                <a:latin typeface="MiSans"/>
                <a:ea typeface="MiSans"/>
              </a:rPr>
              <a:t>硕士毕业设计 · 初版方案讨论稿</a:t>
            </a:r>
            <a:endParaRPr lang="en-US" sz="1100" noProof="1"/>
          </a:p>
        </p:txBody>
      </p:sp>
      <p:sp>
        <p:nvSpPr>
          <p:cNvPr id="4" name="kicker-rule"/>
          <p:cNvSpPr/>
          <p:nvPr/>
        </p:nvSpPr>
        <p:spPr>
          <a:xfrm>
            <a:off x="812800" y="1447800"/>
            <a:ext cx="711200" cy="381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5" name="main-title"/>
          <p:cNvSpPr txBox="1"/>
          <p:nvPr/>
        </p:nvSpPr>
        <p:spPr>
          <a:xfrm>
            <a:off x="812800" y="1701800"/>
            <a:ext cx="105664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3700" noProof="1" b="1">
                <a:solidFill>
                  <a:srgbClr val="23292E"/>
                </a:solidFill>
                <a:latin typeface="思源宋体"/>
                <a:ea typeface="思源宋体"/>
              </a:rPr>
              <a:t>面向 SLO 的知识库缓存动态优化的</a:t>
            </a:r>
            <a:endParaRPr lang="en-US" sz="3700" noProof="1"/>
          </a:p>
          <a:p>
            <a:pPr algn="l">
              <a:lnSpc>
                <a:spcPct val="135000"/>
              </a:lnSpc>
            </a:pPr>
            <a:r>
              <a:rPr lang="en-US" sz="3700" noProof="1" b="1">
                <a:solidFill>
                  <a:srgbClr val="23292E"/>
                </a:solidFill>
                <a:latin typeface="思源宋体"/>
                <a:ea typeface="思源宋体"/>
              </a:rPr>
              <a:t>流式 Agent 推理系统</a:t>
            </a:r>
            <a:endParaRPr lang="en-US" sz="3700" noProof="1"/>
          </a:p>
        </p:txBody>
      </p:sp>
      <p:sp>
        <p:nvSpPr>
          <p:cNvPr id="6" name="sub-title"/>
          <p:cNvSpPr txBox="1"/>
          <p:nvPr/>
        </p:nvSpPr>
        <p:spPr>
          <a:xfrm>
            <a:off x="812800" y="31750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F6B72"/>
                </a:solidFill>
                <a:latin typeface="MiSans"/>
                <a:ea typeface="MiSans"/>
              </a:rPr>
              <a:t>SLO-Oriented Dynamic Knowledge-Base Cache Optimization for Streaming Agent Inference（暂定题）</a:t>
            </a:r>
            <a:endParaRPr lang="en-US" sz="1200" noProof="1"/>
          </a:p>
        </p:txBody>
      </p:sp>
      <p:sp>
        <p:nvSpPr>
          <p:cNvPr id="7" name="intro"/>
          <p:cNvSpPr txBox="1"/>
          <p:nvPr/>
        </p:nvSpPr>
        <p:spPr>
          <a:xfrm>
            <a:off x="812800" y="3657600"/>
            <a:ext cx="10058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300" noProof="1">
                <a:solidFill>
                  <a:srgbClr val="5F6B72"/>
                </a:solidFill>
                <a:latin typeface="MiSans"/>
                <a:ea typeface="MiSans"/>
              </a:rPr>
              <a:t>多轮 Agent 会话让大模型推理从「每次独立完成的一次计算」变成「跨轮、跨会话可复用的状态」。本研究用 Flink 键控状态承载这份「语义记忆」，在端到端时延 SLO 与错误率预算双约束下，用最小的缓存容量与推理资源服务动态负载。</a:t>
            </a:r>
            <a:endParaRPr lang="en-US" sz="1300" noProof="1"/>
          </a:p>
        </p:txBody>
      </p:sp>
      <p:sp>
        <p:nvSpPr>
          <p:cNvPr id="8" name="motif-node-1"/>
          <p:cNvSpPr/>
          <p:nvPr/>
        </p:nvSpPr>
        <p:spPr>
          <a:xfrm>
            <a:off x="812800" y="4978400"/>
            <a:ext cx="1397000" cy="4318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9" name="motif-node-1-t"/>
          <p:cNvSpPr txBox="1"/>
          <p:nvPr/>
        </p:nvSpPr>
        <p:spPr>
          <a:xfrm>
            <a:off x="812800" y="4978400"/>
            <a:ext cx="139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5F6B72"/>
                </a:solidFill>
                <a:latin typeface="MiSans"/>
                <a:ea typeface="MiSans"/>
              </a:rPr>
              <a:t>Source</a:t>
            </a:r>
            <a:endParaRPr lang="en-US" sz="1050" noProof="1"/>
          </a:p>
        </p:txBody>
      </p:sp>
      <p:sp>
        <p:nvSpPr>
          <p:cNvPr id="10" name="motif-a1"/>
          <p:cNvSpPr/>
          <p:nvPr>
            <p:extLst>
              <p:ext uri="{F5677B7D-0D2A-4D9B-9A5C-6D8D7D0E5A5D}">
                <pptd:line encoding="base64url">eyJ2aWV3Qm94IjpbMjQsNl0sInBvaW50cyI6IjAsMyAyNCwzIn0</pptd:line>
              </p:ext>
            </p:extLst>
          </p:nvPr>
        </p:nvSpPr>
        <p:spPr>
          <a:xfrm>
            <a:off x="2260600" y="51562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24" h="6">
                <a:moveTo>
                  <a:pt x="0" y="3"/>
                </a:moveTo>
                <a:lnTo>
                  <a:pt x="24" y="3"/>
                </a:lnTo>
              </a:path>
            </a:pathLst>
          </a:custGeom>
          <a:noFill/>
          <a:ln w="15240" cap="rnd">
            <a:solidFill>
              <a:srgbClr val="9AA5A1"/>
            </a:solidFill>
            <a:round/>
            <a:tailEnd type="stealth"/>
          </a:ln>
        </p:spPr>
      </p:sp>
      <p:sp>
        <p:nvSpPr>
          <p:cNvPr id="11" name="motif-node-2"/>
          <p:cNvSpPr/>
          <p:nvPr/>
        </p:nvSpPr>
        <p:spPr>
          <a:xfrm>
            <a:off x="2616200" y="4978400"/>
            <a:ext cx="1397000" cy="431800"/>
          </a:xfrm>
          <a:prstGeom prst="roundRect">
            <a:avLst>
              <a:gd name="adj" fmla="val 14000"/>
            </a:avLst>
          </a:prstGeom>
          <a:solidFill>
            <a:srgbClr val="155E52"/>
          </a:solidFill>
          <a:ln>
            <a:noFill/>
          </a:ln>
        </p:spPr>
      </p:sp>
      <p:sp>
        <p:nvSpPr>
          <p:cNvPr id="12" name="motif-node-2-t"/>
          <p:cNvSpPr txBox="1"/>
          <p:nvPr/>
        </p:nvSpPr>
        <p:spPr>
          <a:xfrm>
            <a:off x="2616200" y="4978400"/>
            <a:ext cx="139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FFFFFF"/>
                </a:solidFill>
                <a:latin typeface="MiSans"/>
                <a:ea typeface="MiSans"/>
              </a:rPr>
              <a:t>语义记忆算子</a:t>
            </a:r>
            <a:endParaRPr lang="en-US" sz="1050" noProof="1"/>
          </a:p>
        </p:txBody>
      </p:sp>
      <p:sp>
        <p:nvSpPr>
          <p:cNvPr id="13" name="motif-a2"/>
          <p:cNvSpPr/>
          <p:nvPr>
            <p:extLst>
              <p:ext uri="{F5677B7D-0D2A-4D9B-9A5C-6D8D7D0E5A5D}">
                <pptd:line encoding="base64url">eyJ2aWV3Qm94IjpbMjQsNl0sInBvaW50cyI6IjAsMyAyNCwzIn0</pptd:line>
              </p:ext>
            </p:extLst>
          </p:nvPr>
        </p:nvSpPr>
        <p:spPr>
          <a:xfrm>
            <a:off x="4064000" y="51562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24" h="6">
                <a:moveTo>
                  <a:pt x="0" y="3"/>
                </a:moveTo>
                <a:lnTo>
                  <a:pt x="24" y="3"/>
                </a:lnTo>
              </a:path>
            </a:pathLst>
          </a:custGeom>
          <a:noFill/>
          <a:ln w="15240" cap="rnd">
            <a:solidFill>
              <a:srgbClr val="9AA5A1"/>
            </a:solidFill>
            <a:round/>
            <a:tailEnd type="stealth"/>
          </a:ln>
        </p:spPr>
      </p:sp>
      <p:sp>
        <p:nvSpPr>
          <p:cNvPr id="14" name="motif-node-3"/>
          <p:cNvSpPr/>
          <p:nvPr/>
        </p:nvSpPr>
        <p:spPr>
          <a:xfrm>
            <a:off x="4419600" y="4978400"/>
            <a:ext cx="1397000" cy="4318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15" name="motif-node-3-t"/>
          <p:cNvSpPr txBox="1"/>
          <p:nvPr/>
        </p:nvSpPr>
        <p:spPr>
          <a:xfrm>
            <a:off x="4419600" y="4978400"/>
            <a:ext cx="139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5F6B72"/>
                </a:solidFill>
                <a:latin typeface="MiSans"/>
                <a:ea typeface="MiSans"/>
              </a:rPr>
              <a:t>Batcher</a:t>
            </a:r>
            <a:endParaRPr lang="en-US" sz="1050" noProof="1"/>
          </a:p>
        </p:txBody>
      </p:sp>
      <p:sp>
        <p:nvSpPr>
          <p:cNvPr id="16" name="motif-a3"/>
          <p:cNvSpPr/>
          <p:nvPr>
            <p:extLst>
              <p:ext uri="{F5677B7D-0D2A-4D9B-9A5C-6D8D7D0E5A5D}">
                <pptd:line encoding="base64url">eyJ2aWV3Qm94IjpbMjQsNl0sInBvaW50cyI6IjAsMyAyNCwzIn0</pptd:line>
              </p:ext>
            </p:extLst>
          </p:nvPr>
        </p:nvSpPr>
        <p:spPr>
          <a:xfrm>
            <a:off x="5867400" y="51562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24" h="6">
                <a:moveTo>
                  <a:pt x="0" y="3"/>
                </a:moveTo>
                <a:lnTo>
                  <a:pt x="24" y="3"/>
                </a:lnTo>
              </a:path>
            </a:pathLst>
          </a:custGeom>
          <a:noFill/>
          <a:ln w="15240" cap="rnd">
            <a:solidFill>
              <a:srgbClr val="9AA5A1"/>
            </a:solidFill>
            <a:round/>
            <a:tailEnd type="stealth"/>
          </a:ln>
        </p:spPr>
      </p:sp>
      <p:sp>
        <p:nvSpPr>
          <p:cNvPr id="17" name="motif-node-4"/>
          <p:cNvSpPr/>
          <p:nvPr/>
        </p:nvSpPr>
        <p:spPr>
          <a:xfrm>
            <a:off x="6223000" y="4978400"/>
            <a:ext cx="1397000" cy="4318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18" name="motif-node-4-t"/>
          <p:cNvSpPr txBox="1"/>
          <p:nvPr/>
        </p:nvSpPr>
        <p:spPr>
          <a:xfrm>
            <a:off x="6223000" y="4978400"/>
            <a:ext cx="139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5F6B72"/>
                </a:solidFill>
                <a:latin typeface="MiSans"/>
                <a:ea typeface="MiSans"/>
              </a:rPr>
              <a:t>Inferencer</a:t>
            </a:r>
            <a:endParaRPr lang="en-US" sz="1050" noProof="1"/>
          </a:p>
        </p:txBody>
      </p:sp>
      <p:sp>
        <p:nvSpPr>
          <p:cNvPr id="19" name="motif-a4"/>
          <p:cNvSpPr/>
          <p:nvPr>
            <p:extLst>
              <p:ext uri="{F5677B7D-0D2A-4D9B-9A5C-6D8D7D0E5A5D}">
                <pptd:line encoding="base64url">eyJ2aWV3Qm94IjpbMjQsNl0sInBvaW50cyI6IjAsMyAyNCwzIn0</pptd:line>
              </p:ext>
            </p:extLst>
          </p:nvPr>
        </p:nvSpPr>
        <p:spPr>
          <a:xfrm>
            <a:off x="7670800" y="51562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24" h="6">
                <a:moveTo>
                  <a:pt x="0" y="3"/>
                </a:moveTo>
                <a:lnTo>
                  <a:pt x="24" y="3"/>
                </a:lnTo>
              </a:path>
            </a:pathLst>
          </a:custGeom>
          <a:noFill/>
          <a:ln w="15240" cap="rnd">
            <a:solidFill>
              <a:srgbClr val="9AA5A1"/>
            </a:solidFill>
            <a:round/>
            <a:tailEnd type="stealth"/>
          </a:ln>
        </p:spPr>
      </p:sp>
      <p:sp>
        <p:nvSpPr>
          <p:cNvPr id="20" name="motif-node-5"/>
          <p:cNvSpPr/>
          <p:nvPr/>
        </p:nvSpPr>
        <p:spPr>
          <a:xfrm>
            <a:off x="8026400" y="4978400"/>
            <a:ext cx="1397000" cy="4318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21" name="motif-node-5-t"/>
          <p:cNvSpPr txBox="1"/>
          <p:nvPr/>
        </p:nvSpPr>
        <p:spPr>
          <a:xfrm>
            <a:off x="8026400" y="4978400"/>
            <a:ext cx="1397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5F6B72"/>
                </a:solidFill>
                <a:latin typeface="MiSans"/>
                <a:ea typeface="MiSans"/>
              </a:rPr>
              <a:t>Sink</a:t>
            </a:r>
            <a:endParaRPr lang="en-US" sz="1050" noProof="1"/>
          </a:p>
        </p:txBody>
      </p:sp>
      <p:sp>
        <p:nvSpPr>
          <p:cNvPr id="22" name="info"/>
          <p:cNvSpPr txBox="1"/>
          <p:nvPr/>
        </p:nvSpPr>
        <p:spPr>
          <a:xfrm>
            <a:off x="812800" y="6045200"/>
            <a:ext cx="1056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5F6B72"/>
                </a:solidFill>
                <a:latin typeface="MiSans"/>
                <a:ea typeface="MiSans"/>
              </a:rPr>
              <a:t>汇报人：×××　｜　指导教师：×××　｜　2026 年 8 月</a:t>
            </a:r>
            <a:endParaRPr lang="en-US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55E52"/>
                </a:solidFill>
                <a:latin typeface="MiSans"/>
                <a:ea typeface="MiSans"/>
              </a:rPr>
              <a:t>CONTENTS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635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3292E"/>
                </a:solidFill>
                <a:latin typeface="MiSans"/>
                <a:ea typeface="MiSans"/>
              </a:rPr>
              <a:t>汇报框架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711200" y="1168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5" name="toc1-num"/>
          <p:cNvSpPr txBox="1"/>
          <p:nvPr/>
        </p:nvSpPr>
        <p:spPr>
          <a:xfrm>
            <a:off x="711200" y="1549400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155E52"/>
                </a:solidFill>
                <a:latin typeface="MiSans"/>
                <a:ea typeface="MiSans"/>
              </a:rPr>
              <a:t>01</a:t>
            </a:r>
            <a:endParaRPr lang="en-US" sz="2200" noProof="1"/>
          </a:p>
        </p:txBody>
      </p:sp>
      <p:sp>
        <p:nvSpPr>
          <p:cNvPr id="6" name="toc1-title"/>
          <p:cNvSpPr txBox="1"/>
          <p:nvPr/>
        </p:nvSpPr>
        <p:spPr>
          <a:xfrm>
            <a:off x="1574800" y="1549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23292E"/>
                </a:solidFill>
                <a:latin typeface="MiSans"/>
                <a:ea typeface="MiSans"/>
              </a:rPr>
              <a:t>研究背景与问题定义</a:t>
            </a:r>
            <a:endParaRPr lang="en-US" sz="1700" noProof="1"/>
          </a:p>
        </p:txBody>
      </p:sp>
      <p:sp>
        <p:nvSpPr>
          <p:cNvPr id="7" name="toc1-desc"/>
          <p:cNvSpPr txBox="1"/>
          <p:nvPr/>
        </p:nvSpPr>
        <p:spPr>
          <a:xfrm>
            <a:off x="1574800" y="1879600"/>
            <a:ext cx="939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5F6B72"/>
                </a:solidFill>
                <a:latin typeface="MiSans"/>
                <a:ea typeface="MiSans"/>
              </a:rPr>
              <a:t>负载变化 · 知识库远端拉取开销 · 双约束 SLO 与三个研究问题</a:t>
            </a:r>
            <a:endParaRPr lang="en-US" sz="1100" noProof="1"/>
          </a:p>
        </p:txBody>
      </p:sp>
      <p:sp>
        <p:nvSpPr>
          <p:cNvPr id="8" name="toc1-line"/>
          <p:cNvSpPr/>
          <p:nvPr/>
        </p:nvSpPr>
        <p:spPr>
          <a:xfrm>
            <a:off x="711200" y="22860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9" name="toc2-num"/>
          <p:cNvSpPr txBox="1"/>
          <p:nvPr/>
        </p:nvSpPr>
        <p:spPr>
          <a:xfrm>
            <a:off x="711200" y="2463800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155E52"/>
                </a:solidFill>
                <a:latin typeface="MiSans"/>
                <a:ea typeface="MiSans"/>
              </a:rPr>
              <a:t>02</a:t>
            </a:r>
            <a:endParaRPr lang="en-US" sz="2200" noProof="1"/>
          </a:p>
        </p:txBody>
      </p:sp>
      <p:sp>
        <p:nvSpPr>
          <p:cNvPr id="10" name="toc2-title"/>
          <p:cNvSpPr txBox="1"/>
          <p:nvPr/>
        </p:nvSpPr>
        <p:spPr>
          <a:xfrm>
            <a:off x="1574800" y="24638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23292E"/>
                </a:solidFill>
                <a:latin typeface="MiSans"/>
                <a:ea typeface="MiSans"/>
              </a:rPr>
              <a:t>相关工作与差异化定位</a:t>
            </a:r>
            <a:endParaRPr lang="en-US" sz="1700" noProof="1"/>
          </a:p>
        </p:txBody>
      </p:sp>
      <p:sp>
        <p:nvSpPr>
          <p:cNvPr id="11" name="toc2-desc"/>
          <p:cNvSpPr txBox="1"/>
          <p:nvPr/>
        </p:nvSpPr>
        <p:spPr>
          <a:xfrm>
            <a:off x="1574800" y="2794000"/>
            <a:ext cx="939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5F6B72"/>
                </a:solidFill>
                <a:latin typeface="MiSans"/>
                <a:ea typeface="MiSans"/>
              </a:rPr>
              <a:t>vCache / GPTCache / 单轮流式推理的边界，与本课题的切入点</a:t>
            </a:r>
            <a:endParaRPr lang="en-US" sz="1100" noProof="1"/>
          </a:p>
        </p:txBody>
      </p:sp>
      <p:sp>
        <p:nvSpPr>
          <p:cNvPr id="12" name="toc2-line"/>
          <p:cNvSpPr/>
          <p:nvPr/>
        </p:nvSpPr>
        <p:spPr>
          <a:xfrm>
            <a:off x="711200" y="3200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13" name="toc3-num"/>
          <p:cNvSpPr txBox="1"/>
          <p:nvPr/>
        </p:nvSpPr>
        <p:spPr>
          <a:xfrm>
            <a:off x="711200" y="3378200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155E52"/>
                </a:solidFill>
                <a:latin typeface="MiSans"/>
                <a:ea typeface="MiSans"/>
              </a:rPr>
              <a:t>03</a:t>
            </a:r>
            <a:endParaRPr lang="en-US" sz="2200" noProof="1"/>
          </a:p>
        </p:txBody>
      </p:sp>
      <p:sp>
        <p:nvSpPr>
          <p:cNvPr id="14" name="toc3-title"/>
          <p:cNvSpPr txBox="1"/>
          <p:nvPr/>
        </p:nvSpPr>
        <p:spPr>
          <a:xfrm>
            <a:off x="1574800" y="33782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23292E"/>
                </a:solidFill>
                <a:latin typeface="MiSans"/>
                <a:ea typeface="MiSans"/>
              </a:rPr>
              <a:t>研究故事线与整体框架</a:t>
            </a:r>
            <a:endParaRPr lang="en-US" sz="1700" noProof="1"/>
          </a:p>
        </p:txBody>
      </p:sp>
      <p:sp>
        <p:nvSpPr>
          <p:cNvPr id="15" name="toc3-desc"/>
          <p:cNvSpPr txBox="1"/>
          <p:nvPr/>
        </p:nvSpPr>
        <p:spPr>
          <a:xfrm>
            <a:off x="1574800" y="3708400"/>
            <a:ext cx="939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5F6B72"/>
                </a:solidFill>
                <a:latin typeface="MiSans"/>
                <a:ea typeface="MiSans"/>
              </a:rPr>
              <a:t>预测 → 联合配置 → 推理短路与状态维护的闭环；管线零改动，只升级一个算子</a:t>
            </a:r>
            <a:endParaRPr lang="en-US" sz="1100" noProof="1"/>
          </a:p>
        </p:txBody>
      </p:sp>
      <p:sp>
        <p:nvSpPr>
          <p:cNvPr id="16" name="toc3-line"/>
          <p:cNvSpPr/>
          <p:nvPr/>
        </p:nvSpPr>
        <p:spPr>
          <a:xfrm>
            <a:off x="711200" y="41148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17" name="toc4-num"/>
          <p:cNvSpPr txBox="1"/>
          <p:nvPr/>
        </p:nvSpPr>
        <p:spPr>
          <a:xfrm>
            <a:off x="711200" y="4292600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155E52"/>
                </a:solidFill>
                <a:latin typeface="MiSans"/>
                <a:ea typeface="MiSans"/>
              </a:rPr>
              <a:t>04</a:t>
            </a:r>
            <a:endParaRPr lang="en-US" sz="2200" noProof="1"/>
          </a:p>
        </p:txBody>
      </p:sp>
      <p:sp>
        <p:nvSpPr>
          <p:cNvPr id="18" name="toc4-title"/>
          <p:cNvSpPr txBox="1"/>
          <p:nvPr/>
        </p:nvSpPr>
        <p:spPr>
          <a:xfrm>
            <a:off x="1574800" y="42926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23292E"/>
                </a:solidFill>
                <a:latin typeface="MiSans"/>
                <a:ea typeface="MiSans"/>
              </a:rPr>
              <a:t>三个研究点</a:t>
            </a:r>
            <a:endParaRPr lang="en-US" sz="1700" noProof="1"/>
          </a:p>
        </p:txBody>
      </p:sp>
      <p:sp>
        <p:nvSpPr>
          <p:cNvPr id="19" name="toc4-desc"/>
          <p:cNvSpPr txBox="1"/>
          <p:nvPr/>
        </p:nvSpPr>
        <p:spPr>
          <a:xfrm>
            <a:off x="1574800" y="4622800"/>
            <a:ext cx="939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5F6B72"/>
                </a:solidFill>
                <a:latin typeface="MiSans"/>
                <a:ea typeface="MiSans"/>
              </a:rPr>
              <a:t>时延预测（感知）· 推理短路与参数调优（决策）· 状态执行层优化（执行）</a:t>
            </a:r>
            <a:endParaRPr lang="en-US" sz="1100" noProof="1"/>
          </a:p>
        </p:txBody>
      </p:sp>
      <p:sp>
        <p:nvSpPr>
          <p:cNvPr id="20" name="toc4-line"/>
          <p:cNvSpPr/>
          <p:nvPr/>
        </p:nvSpPr>
        <p:spPr>
          <a:xfrm>
            <a:off x="711200" y="50292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21" name="toc5-num"/>
          <p:cNvSpPr txBox="1"/>
          <p:nvPr/>
        </p:nvSpPr>
        <p:spPr>
          <a:xfrm>
            <a:off x="711200" y="5207000"/>
            <a:ext cx="711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200" noProof="1" b="1">
                <a:solidFill>
                  <a:srgbClr val="155E52"/>
                </a:solidFill>
                <a:latin typeface="MiSans"/>
                <a:ea typeface="MiSans"/>
              </a:rPr>
              <a:t>05</a:t>
            </a:r>
            <a:endParaRPr lang="en-US" sz="2200" noProof="1"/>
          </a:p>
        </p:txBody>
      </p:sp>
      <p:sp>
        <p:nvSpPr>
          <p:cNvPr id="22" name="toc5-title"/>
          <p:cNvSpPr txBox="1"/>
          <p:nvPr/>
        </p:nvSpPr>
        <p:spPr>
          <a:xfrm>
            <a:off x="1574800" y="52070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23292E"/>
                </a:solidFill>
                <a:latin typeface="MiSans"/>
                <a:ea typeface="MiSans"/>
              </a:rPr>
              <a:t>可行性基础与讨论要点</a:t>
            </a:r>
            <a:endParaRPr lang="en-US" sz="1700" noProof="1"/>
          </a:p>
        </p:txBody>
      </p:sp>
      <p:sp>
        <p:nvSpPr>
          <p:cNvPr id="23" name="toc5-desc"/>
          <p:cNvSpPr txBox="1"/>
          <p:nvPr/>
        </p:nvSpPr>
        <p:spPr>
          <a:xfrm>
            <a:off x="1574800" y="5537200"/>
            <a:ext cx="939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5F6B72"/>
                </a:solidFill>
                <a:latin typeface="MiSans"/>
                <a:ea typeface="MiSans"/>
              </a:rPr>
              <a:t>InferTuner 基底资产 · 关键权衡 · 开放问题与下一步</a:t>
            </a:r>
            <a:endParaRPr lang="en-US" sz="1100" noProof="1"/>
          </a:p>
        </p:txBody>
      </p:sp>
      <p:sp>
        <p:nvSpPr>
          <p:cNvPr id="24" name="toc5-line"/>
          <p:cNvSpPr/>
          <p:nvPr/>
        </p:nvSpPr>
        <p:spPr>
          <a:xfrm>
            <a:off x="711200" y="59436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25" name="footer-left"/>
          <p:cNvSpPr txBox="1"/>
          <p:nvPr/>
        </p:nvSpPr>
        <p:spPr>
          <a:xfrm>
            <a:off x="711200" y="6502400"/>
            <a:ext cx="762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毕业设计初版方案 · 面向 SLO 的知识库缓存动态优化的流式 Agent 推理系统</a:t>
            </a:r>
            <a:endParaRPr lang="en-US" sz="900" noProof="1"/>
          </a:p>
        </p:txBody>
      </p:sp>
      <p:sp>
        <p:nvSpPr>
          <p:cNvPr id="26" name="footer-right"/>
          <p:cNvSpPr txBox="1"/>
          <p:nvPr/>
        </p:nvSpPr>
        <p:spPr>
          <a:xfrm>
            <a:off x="10871200" y="65024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02 / 17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55E52"/>
                </a:solidFill>
                <a:latin typeface="MiSans"/>
                <a:ea typeface="MiSans"/>
              </a:rPr>
              <a:t>01 · 研究背景</a:t>
            </a:r>
            <a:endParaRPr lang="en-US" sz="1100" noProof="1"/>
          </a:p>
        </p:txBody>
      </p:sp>
      <p:sp>
        <p:nvSpPr>
          <p:cNvPr id="3" name="page-no"/>
          <p:cNvSpPr txBox="1"/>
          <p:nvPr/>
        </p:nvSpPr>
        <p:spPr>
          <a:xfrm>
            <a:off x="9601200" y="381000"/>
            <a:ext cx="1879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9AA5A1"/>
                </a:solidFill>
                <a:latin typeface="MiSans"/>
                <a:ea typeface="MiSans"/>
              </a:rPr>
              <a:t>背景 1 / 2</a:t>
            </a:r>
            <a:endParaRPr lang="en-US" sz="10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09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3292E"/>
                </a:solidFill>
                <a:latin typeface="MiSans"/>
                <a:ea typeface="MiSans"/>
              </a:rPr>
              <a:t>负载变了：从「单轮问答」走向「多轮 Agent 会话」</a:t>
            </a:r>
            <a:endParaRPr lang="en-US" sz="2500" noProof="1"/>
          </a:p>
        </p:txBody>
      </p:sp>
      <p:sp>
        <p:nvSpPr>
          <p:cNvPr id="5" name="title-rule"/>
          <p:cNvSpPr/>
          <p:nvPr/>
        </p:nvSpPr>
        <p:spPr>
          <a:xfrm>
            <a:off x="711200" y="1168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6" name="bullets"/>
          <p:cNvSpPr txBox="1"/>
          <p:nvPr/>
        </p:nvSpPr>
        <p:spPr>
          <a:xfrm>
            <a:off x="711200" y="1549400"/>
            <a:ext cx="53848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5000"/>
              </a:lnSpc>
            </a:pPr>
            <a:r>
              <a:rPr lang="en-US" sz="1350" noProof="1" b="1">
                <a:solidFill>
                  <a:srgbClr val="23292E"/>
                </a:solidFill>
                <a:latin typeface="MiSans"/>
                <a:ea typeface="MiSans"/>
              </a:rPr>
              <a:t>现状</a:t>
            </a:r>
            <a:r>
              <a:rPr lang="en-US" sz="1350" noProof="1">
                <a:solidFill>
                  <a:srgbClr val="23292E"/>
                </a:solidFill>
                <a:latin typeface="MiSans"/>
                <a:ea typeface="MiSans"/>
              </a:rPr>
              <a:t>：现有流式推理系统（小红书项目）针对</a:t>
            </a:r>
            <a:r>
              <a:rPr lang="en-US" sz="1350" noProof="1" b="1">
                <a:solidFill>
                  <a:srgbClr val="23292E"/>
                </a:solidFill>
                <a:latin typeface="MiSans"/>
                <a:ea typeface="MiSans"/>
              </a:rPr>
              <a:t>单轮对话</a:t>
            </a:r>
            <a:r>
              <a:rPr lang="en-US" sz="1350" noProof="1">
                <a:solidFill>
                  <a:srgbClr val="23292E"/>
                </a:solidFill>
                <a:latin typeface="MiSans"/>
                <a:ea typeface="MiSans"/>
              </a:rPr>
              <a:t>——每次请求都是独立完成的一次计算。</a:t>
            </a:r>
            <a:endParaRPr lang="en-US" sz="1350" noProof="1"/>
          </a:p>
          <a:p>
            <a:pPr algn="l">
              <a:lnSpc>
                <a:spcPct val="165000"/>
              </a:lnSpc>
              <a:spcBef>
                <a:spcPts val="1400"/>
              </a:spcBef>
            </a:pPr>
            <a:r>
              <a:rPr lang="en-US" sz="1350" noProof="1" b="1">
                <a:solidFill>
                  <a:srgbClr val="23292E"/>
                </a:solidFill>
                <a:latin typeface="MiSans"/>
                <a:ea typeface="MiSans"/>
              </a:rPr>
              <a:t>迁移到多轮 Agent 会话</a:t>
            </a:r>
            <a:r>
              <a:rPr lang="en-US" sz="1350" noProof="1">
                <a:solidFill>
                  <a:srgbClr val="23292E"/>
                </a:solidFill>
                <a:latin typeface="MiSans"/>
                <a:ea typeface="MiSans"/>
              </a:rPr>
              <a:t>后，推理从「一次计算」变成「跨轮、跨会话可复用的状态」：</a:t>
            </a:r>
            <a:endParaRPr lang="en-US" sz="1350" noProof="1"/>
          </a:p>
          <a:p>
            <a:pPr algn="l">
              <a:lnSpc>
                <a:spcPct val="165000"/>
              </a:lnSpc>
              <a:spcBef>
                <a:spcPts val="1000"/>
              </a:spcBef>
            </a:pPr>
            <a:r>
              <a:rPr lang="en-US" sz="1350" noProof="1">
                <a:solidFill>
                  <a:srgbClr val="23292E"/>
                </a:solidFill>
                <a:latin typeface="MiSans"/>
                <a:ea typeface="MiSans"/>
              </a:rPr>
              <a:t>· 会话结果可以复用</a:t>
            </a:r>
            <a:endParaRPr lang="en-US" sz="1350" noProof="1"/>
          </a:p>
          <a:p>
            <a:pPr algn="l">
              <a:lnSpc>
                <a:spcPct val="165000"/>
              </a:lnSpc>
            </a:pPr>
            <a:r>
              <a:rPr lang="en-US" sz="1350" noProof="1">
                <a:solidFill>
                  <a:srgbClr val="23292E"/>
                </a:solidFill>
                <a:latin typeface="MiSans"/>
                <a:ea typeface="MiSans"/>
              </a:rPr>
              <a:t>· 知识库资料可以缓存复用</a:t>
            </a:r>
            <a:endParaRPr lang="en-US" sz="1350" noProof="1"/>
          </a:p>
          <a:p>
            <a:pPr algn="l">
              <a:lnSpc>
                <a:spcPct val="165000"/>
              </a:lnSpc>
              <a:spcBef>
                <a:spcPts val="1400"/>
              </a:spcBef>
            </a:pPr>
            <a:r>
              <a:rPr lang="en-US" sz="1350" noProof="1" b="1">
                <a:solidFill>
                  <a:srgbClr val="23292E"/>
                </a:solidFill>
                <a:latin typeface="MiSans"/>
                <a:ea typeface="MiSans"/>
              </a:rPr>
              <a:t>同时引入新问题</a:t>
            </a:r>
            <a:r>
              <a:rPr lang="en-US" sz="1350" noProof="1">
                <a:solidFill>
                  <a:srgbClr val="23292E"/>
                </a:solidFill>
                <a:latin typeface="MiSans"/>
                <a:ea typeface="MiSans"/>
              </a:rPr>
              <a:t>：请求路由需要</a:t>
            </a:r>
            <a:r>
              <a:rPr lang="en-US" sz="1350" noProof="1" b="1">
                <a:solidFill>
                  <a:srgbClr val="23292E"/>
                </a:solidFill>
                <a:latin typeface="MiSans"/>
                <a:ea typeface="MiSans"/>
              </a:rPr>
              <a:t>会话亲和性调度</a:t>
            </a:r>
            <a:r>
              <a:rPr lang="en-US" sz="1350" noProof="1">
                <a:solidFill>
                  <a:srgbClr val="23292E"/>
                </a:solidFill>
                <a:latin typeface="MiSans"/>
                <a:ea typeface="MiSans"/>
              </a:rPr>
              <a:t>——同一会话的请求应落到持有其状态的算子上。</a:t>
            </a:r>
            <a:endParaRPr lang="en-US" sz="1350" noProof="1"/>
          </a:p>
        </p:txBody>
      </p:sp>
      <p:sp>
        <p:nvSpPr>
          <p:cNvPr id="7" name="dia-label-a"/>
          <p:cNvSpPr txBox="1"/>
          <p:nvPr/>
        </p:nvSpPr>
        <p:spPr>
          <a:xfrm>
            <a:off x="6502400" y="1549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5F6B72"/>
                </a:solidFill>
                <a:latin typeface="MiSans"/>
                <a:ea typeface="MiSans"/>
              </a:rPr>
              <a:t>单轮对话（现有系统）</a:t>
            </a:r>
            <a:endParaRPr lang="en-US" sz="1200" noProof="1"/>
          </a:p>
        </p:txBody>
      </p:sp>
      <p:sp>
        <p:nvSpPr>
          <p:cNvPr id="8" name="dia-a-n1"/>
          <p:cNvSpPr/>
          <p:nvPr/>
        </p:nvSpPr>
        <p:spPr>
          <a:xfrm>
            <a:off x="6502400" y="1879600"/>
            <a:ext cx="965200" cy="4318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9" name="dia-a-n1-t"/>
          <p:cNvSpPr txBox="1"/>
          <p:nvPr/>
        </p:nvSpPr>
        <p:spPr>
          <a:xfrm>
            <a:off x="6502400" y="1879600"/>
            <a:ext cx="965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F6B72"/>
                </a:solidFill>
                <a:latin typeface="MiSans"/>
                <a:ea typeface="MiSans"/>
              </a:rPr>
              <a:t>请求</a:t>
            </a:r>
            <a:endParaRPr lang="en-US" sz="1100" noProof="1"/>
          </a:p>
        </p:txBody>
      </p:sp>
      <p:sp>
        <p:nvSpPr>
          <p:cNvPr id="10" name="dia-a-arr1"/>
          <p:cNvSpPr/>
          <p:nvPr>
            <p:extLst>
              <p:ext uri="{F5677B7D-0D2A-4D9B-9A5C-6D8D7D0E5A5D}">
                <pptd:line encoding="base64url">eyJ2aWV3Qm94IjpbMzAsNl0sInBvaW50cyI6IjAsMyAzMCwzIn0</pptd:line>
              </p:ext>
            </p:extLst>
          </p:nvPr>
        </p:nvSpPr>
        <p:spPr>
          <a:xfrm>
            <a:off x="7518400" y="2032000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0" h="6">
                <a:moveTo>
                  <a:pt x="0" y="3"/>
                </a:moveTo>
                <a:lnTo>
                  <a:pt x="30" y="3"/>
                </a:lnTo>
              </a:path>
            </a:pathLst>
          </a:custGeom>
          <a:noFill/>
          <a:ln w="15240" cap="rnd">
            <a:solidFill>
              <a:srgbClr val="9AA5A1"/>
            </a:solidFill>
            <a:round/>
            <a:tailEnd type="stealth"/>
          </a:ln>
        </p:spPr>
      </p:sp>
      <p:sp>
        <p:nvSpPr>
          <p:cNvPr id="11" name="dia-a-n2"/>
          <p:cNvSpPr/>
          <p:nvPr/>
        </p:nvSpPr>
        <p:spPr>
          <a:xfrm>
            <a:off x="7950200" y="1879600"/>
            <a:ext cx="965200" cy="4318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12" name="dia-a-n2-t"/>
          <p:cNvSpPr txBox="1"/>
          <p:nvPr/>
        </p:nvSpPr>
        <p:spPr>
          <a:xfrm>
            <a:off x="7950200" y="1879600"/>
            <a:ext cx="965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F6B72"/>
                </a:solidFill>
                <a:latin typeface="MiSans"/>
                <a:ea typeface="MiSans"/>
              </a:rPr>
              <a:t>推理</a:t>
            </a:r>
            <a:endParaRPr lang="en-US" sz="1100" noProof="1"/>
          </a:p>
        </p:txBody>
      </p:sp>
      <p:sp>
        <p:nvSpPr>
          <p:cNvPr id="13" name="dia-a-arr2"/>
          <p:cNvSpPr/>
          <p:nvPr>
            <p:extLst>
              <p:ext uri="{F5677B7D-0D2A-4D9B-9A5C-6D8D7D0E5A5D}">
                <pptd:line encoding="base64url">eyJ2aWV3Qm94IjpbMzAsNl0sInBvaW50cyI6IjAsMyAzMCwzIn0</pptd:line>
              </p:ext>
            </p:extLst>
          </p:nvPr>
        </p:nvSpPr>
        <p:spPr>
          <a:xfrm>
            <a:off x="8966200" y="2032000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0" h="6">
                <a:moveTo>
                  <a:pt x="0" y="3"/>
                </a:moveTo>
                <a:lnTo>
                  <a:pt x="30" y="3"/>
                </a:lnTo>
              </a:path>
            </a:pathLst>
          </a:custGeom>
          <a:noFill/>
          <a:ln w="15240" cap="rnd">
            <a:solidFill>
              <a:srgbClr val="9AA5A1"/>
            </a:solidFill>
            <a:round/>
            <a:tailEnd type="stealth"/>
          </a:ln>
        </p:spPr>
      </p:sp>
      <p:sp>
        <p:nvSpPr>
          <p:cNvPr id="14" name="dia-a-n3"/>
          <p:cNvSpPr/>
          <p:nvPr/>
        </p:nvSpPr>
        <p:spPr>
          <a:xfrm>
            <a:off x="9398000" y="1879600"/>
            <a:ext cx="965200" cy="4318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15" name="dia-a-n3-t"/>
          <p:cNvSpPr txBox="1"/>
          <p:nvPr/>
        </p:nvSpPr>
        <p:spPr>
          <a:xfrm>
            <a:off x="9398000" y="1879600"/>
            <a:ext cx="965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F6B72"/>
                </a:solidFill>
                <a:latin typeface="MiSans"/>
                <a:ea typeface="MiSans"/>
              </a:rPr>
              <a:t>返回</a:t>
            </a:r>
            <a:endParaRPr lang="en-US" sz="1100" noProof="1"/>
          </a:p>
        </p:txBody>
      </p:sp>
      <p:sp>
        <p:nvSpPr>
          <p:cNvPr id="16" name="dia-a-cap"/>
          <p:cNvSpPr txBox="1"/>
          <p:nvPr/>
        </p:nvSpPr>
        <p:spPr>
          <a:xfrm>
            <a:off x="6502400" y="2413000"/>
            <a:ext cx="4978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9AA5A1"/>
                </a:solidFill>
                <a:latin typeface="MiSans"/>
                <a:ea typeface="MiSans"/>
              </a:rPr>
              <a:t>请求之间相互独立，每次推理从零开始</a:t>
            </a:r>
            <a:endParaRPr lang="en-US" sz="1000" noProof="1"/>
          </a:p>
        </p:txBody>
      </p:sp>
      <p:sp>
        <p:nvSpPr>
          <p:cNvPr id="17" name="dia-label-b"/>
          <p:cNvSpPr txBox="1"/>
          <p:nvPr/>
        </p:nvSpPr>
        <p:spPr>
          <a:xfrm>
            <a:off x="6502400" y="2946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55E52"/>
                </a:solidFill>
                <a:latin typeface="MiSans"/>
                <a:ea typeface="MiSans"/>
              </a:rPr>
              <a:t>多轮 Agent 会话（本课题场景）</a:t>
            </a:r>
            <a:endParaRPr lang="en-US" sz="1200" noProof="1"/>
          </a:p>
        </p:txBody>
      </p:sp>
      <p:sp>
        <p:nvSpPr>
          <p:cNvPr id="18" name="dia-b-n1"/>
          <p:cNvSpPr/>
          <p:nvPr/>
        </p:nvSpPr>
        <p:spPr>
          <a:xfrm>
            <a:off x="6502400" y="3276600"/>
            <a:ext cx="1219200" cy="431800"/>
          </a:xfrm>
          <a:prstGeom prst="roundRect">
            <a:avLst>
              <a:gd name="adj" fmla="val 14000"/>
            </a:avLst>
          </a:prstGeom>
          <a:solidFill>
            <a:srgbClr val="E4EEE9"/>
          </a:solidFill>
          <a:ln w="12700">
            <a:solidFill>
              <a:srgbClr val="155E52"/>
            </a:solidFill>
          </a:ln>
        </p:spPr>
      </p:sp>
      <p:sp>
        <p:nvSpPr>
          <p:cNvPr id="19" name="dia-b-n1-t"/>
          <p:cNvSpPr txBox="1"/>
          <p:nvPr/>
        </p:nvSpPr>
        <p:spPr>
          <a:xfrm>
            <a:off x="6502400" y="3276600"/>
            <a:ext cx="1219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55E52"/>
                </a:solidFill>
                <a:latin typeface="MiSans"/>
                <a:ea typeface="MiSans"/>
              </a:rPr>
              <a:t>会话轮次 1</a:t>
            </a:r>
            <a:endParaRPr lang="en-US" sz="1100" noProof="1"/>
          </a:p>
        </p:txBody>
      </p:sp>
      <p:sp>
        <p:nvSpPr>
          <p:cNvPr id="20" name="dia-b-arr1"/>
          <p:cNvSpPr/>
          <p:nvPr>
            <p:extLst>
              <p:ext uri="{F5677B7D-0D2A-4D9B-9A5C-6D8D7D0E5A5D}">
                <pptd:line encoding="base64url">eyJ2aWV3Qm94IjpbMzAsNl0sInBvaW50cyI6IjAsMyAzMCwzIn0</pptd:line>
              </p:ext>
            </p:extLst>
          </p:nvPr>
        </p:nvSpPr>
        <p:spPr>
          <a:xfrm>
            <a:off x="7772400" y="3429000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0" h="6">
                <a:moveTo>
                  <a:pt x="0" y="3"/>
                </a:moveTo>
                <a:lnTo>
                  <a:pt x="30" y="3"/>
                </a:lnTo>
              </a:path>
            </a:pathLst>
          </a:custGeom>
          <a:noFill/>
          <a:ln w="15240" cap="rnd">
            <a:solidFill>
              <a:srgbClr val="155E52"/>
            </a:solidFill>
            <a:round/>
            <a:tailEnd type="stealth"/>
          </a:ln>
        </p:spPr>
      </p:sp>
      <p:sp>
        <p:nvSpPr>
          <p:cNvPr id="21" name="dia-b-n2"/>
          <p:cNvSpPr/>
          <p:nvPr/>
        </p:nvSpPr>
        <p:spPr>
          <a:xfrm>
            <a:off x="8204200" y="3276600"/>
            <a:ext cx="1219200" cy="431800"/>
          </a:xfrm>
          <a:prstGeom prst="roundRect">
            <a:avLst>
              <a:gd name="adj" fmla="val 14000"/>
            </a:avLst>
          </a:prstGeom>
          <a:solidFill>
            <a:srgbClr val="E4EEE9"/>
          </a:solidFill>
          <a:ln w="12700">
            <a:solidFill>
              <a:srgbClr val="155E52"/>
            </a:solidFill>
          </a:ln>
        </p:spPr>
      </p:sp>
      <p:sp>
        <p:nvSpPr>
          <p:cNvPr id="22" name="dia-b-n2-t"/>
          <p:cNvSpPr txBox="1"/>
          <p:nvPr/>
        </p:nvSpPr>
        <p:spPr>
          <a:xfrm>
            <a:off x="8204200" y="3276600"/>
            <a:ext cx="1219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55E52"/>
                </a:solidFill>
                <a:latin typeface="MiSans"/>
                <a:ea typeface="MiSans"/>
              </a:rPr>
              <a:t>会话轮次 2</a:t>
            </a:r>
            <a:endParaRPr lang="en-US" sz="1100" noProof="1"/>
          </a:p>
        </p:txBody>
      </p:sp>
      <p:sp>
        <p:nvSpPr>
          <p:cNvPr id="23" name="dia-b-arr2"/>
          <p:cNvSpPr/>
          <p:nvPr>
            <p:extLst>
              <p:ext uri="{F5677B7D-0D2A-4D9B-9A5C-6D8D7D0E5A5D}">
                <pptd:line encoding="base64url">eyJ2aWV3Qm94IjpbMzAsNl0sInBvaW50cyI6IjAsMyAzMCwzIn0</pptd:line>
              </p:ext>
            </p:extLst>
          </p:nvPr>
        </p:nvSpPr>
        <p:spPr>
          <a:xfrm>
            <a:off x="9474200" y="3429000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0" h="6">
                <a:moveTo>
                  <a:pt x="0" y="3"/>
                </a:moveTo>
                <a:lnTo>
                  <a:pt x="30" y="3"/>
                </a:lnTo>
              </a:path>
            </a:pathLst>
          </a:custGeom>
          <a:noFill/>
          <a:ln w="15240" cap="rnd">
            <a:solidFill>
              <a:srgbClr val="155E52"/>
            </a:solidFill>
            <a:round/>
            <a:tailEnd type="stealth"/>
          </a:ln>
        </p:spPr>
      </p:sp>
      <p:sp>
        <p:nvSpPr>
          <p:cNvPr id="24" name="dia-b-n3"/>
          <p:cNvSpPr/>
          <p:nvPr/>
        </p:nvSpPr>
        <p:spPr>
          <a:xfrm>
            <a:off x="9906000" y="3276600"/>
            <a:ext cx="1219200" cy="431800"/>
          </a:xfrm>
          <a:prstGeom prst="roundRect">
            <a:avLst>
              <a:gd name="adj" fmla="val 14000"/>
            </a:avLst>
          </a:prstGeom>
          <a:solidFill>
            <a:srgbClr val="E4EEE9"/>
          </a:solidFill>
          <a:ln w="12700">
            <a:solidFill>
              <a:srgbClr val="155E52"/>
            </a:solidFill>
          </a:ln>
        </p:spPr>
      </p:sp>
      <p:sp>
        <p:nvSpPr>
          <p:cNvPr id="25" name="dia-b-n3-t"/>
          <p:cNvSpPr txBox="1"/>
          <p:nvPr/>
        </p:nvSpPr>
        <p:spPr>
          <a:xfrm>
            <a:off x="9906000" y="3276600"/>
            <a:ext cx="1219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55E52"/>
                </a:solidFill>
                <a:latin typeface="MiSans"/>
                <a:ea typeface="MiSans"/>
              </a:rPr>
              <a:t>会话轮次 3</a:t>
            </a:r>
            <a:endParaRPr lang="en-US" sz="1100" noProof="1"/>
          </a:p>
        </p:txBody>
      </p:sp>
      <p:sp>
        <p:nvSpPr>
          <p:cNvPr id="26" name="dia-b-reuse"/>
          <p:cNvSpPr/>
          <p:nvPr>
            <p:extLst>
              <p:ext uri="{F5677B7D-0D2A-4D9B-9A5C-6D8D7D0E5A5D}">
                <pptd:line encoding="base64url">eyJ2aWV3Qm94IjpbMjY4LDI0XSwicG9pbnRzIjoiMjY4LDAgMTM0LDI0IDAsMCIsImN1cnZlIjoic21vb3RoIn0</pptd:line>
              </p:ext>
            </p:extLst>
          </p:nvPr>
        </p:nvSpPr>
        <p:spPr>
          <a:xfrm>
            <a:off x="7112000" y="3810000"/>
            <a:ext cx="3403600" cy="304800"/>
          </a:xfrm>
          <a:custGeom>
            <a:avLst/>
            <a:gdLst/>
            <a:ahLst/>
            <a:cxnLst/>
            <a:rect l="l" t="t" r="r" b="b"/>
            <a:pathLst>
              <a:path w="268" h="24">
                <a:moveTo>
                  <a:pt x="268" y="0"/>
                </a:moveTo>
                <a:quadBezTo>
                  <a:pt x="134" y="24"/>
                  <a:pt x="0" y="0"/>
                </a:quadBezTo>
              </a:path>
            </a:pathLst>
          </a:custGeom>
          <a:noFill/>
          <a:ln w="15240" cap="rnd">
            <a:solidFill>
              <a:srgbClr val="155E52"/>
            </a:solidFill>
            <a:prstDash val="dash"/>
            <a:round/>
            <a:tailEnd type="stealth"/>
          </a:ln>
        </p:spPr>
      </p:sp>
      <p:sp>
        <p:nvSpPr>
          <p:cNvPr id="27" name="dia-b-cap"/>
          <p:cNvSpPr txBox="1"/>
          <p:nvPr/>
        </p:nvSpPr>
        <p:spPr>
          <a:xfrm>
            <a:off x="6502400" y="4191000"/>
            <a:ext cx="4978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155E52"/>
                </a:solidFill>
                <a:latin typeface="MiSans"/>
                <a:ea typeface="MiSans"/>
              </a:rPr>
              <a:t>上下文逐轮累积，历史回复与知识资料可跨轮 / 跨会话复用</a:t>
            </a:r>
            <a:endParaRPr lang="en-US" sz="1000" noProof="1"/>
          </a:p>
        </p:txBody>
      </p:sp>
      <p:sp>
        <p:nvSpPr>
          <p:cNvPr id="28" name="takeaway-bar"/>
          <p:cNvSpPr/>
          <p:nvPr/>
        </p:nvSpPr>
        <p:spPr>
          <a:xfrm>
            <a:off x="711200" y="5613400"/>
            <a:ext cx="38100" cy="5334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29" name="takeaway"/>
          <p:cNvSpPr txBox="1"/>
          <p:nvPr/>
        </p:nvSpPr>
        <p:spPr>
          <a:xfrm>
            <a:off x="914400" y="5613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350" noProof="1">
                <a:solidFill>
                  <a:srgbClr val="23292E"/>
                </a:solidFill>
                <a:latin typeface="MiSans"/>
                <a:ea typeface="MiSans"/>
              </a:rPr>
              <a:t>机会在于「复用」——会话结果与知识资料都能跨轮、跨会话复用；代价是这份「状态」必须被缓存、调度与控制。</a:t>
            </a:r>
            <a:endParaRPr lang="en-US" sz="1350" noProof="1"/>
          </a:p>
        </p:txBody>
      </p:sp>
      <p:sp>
        <p:nvSpPr>
          <p:cNvPr id="30" name="footer-left"/>
          <p:cNvSpPr txBox="1"/>
          <p:nvPr/>
        </p:nvSpPr>
        <p:spPr>
          <a:xfrm>
            <a:off x="711200" y="6502400"/>
            <a:ext cx="762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毕业设计初版方案 · 面向 SLO 的知识库缓存动态优化的流式 Agent 推理系统</a:t>
            </a:r>
            <a:endParaRPr lang="en-US" sz="900" noProof="1"/>
          </a:p>
        </p:txBody>
      </p:sp>
      <p:sp>
        <p:nvSpPr>
          <p:cNvPr id="31" name="footer-right"/>
          <p:cNvSpPr txBox="1"/>
          <p:nvPr/>
        </p:nvSpPr>
        <p:spPr>
          <a:xfrm>
            <a:off x="10871200" y="65024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03 / 17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55E52"/>
                </a:solidFill>
                <a:latin typeface="MiSans"/>
                <a:ea typeface="MiSans"/>
              </a:rPr>
              <a:t>01 · 研究背景</a:t>
            </a:r>
            <a:endParaRPr lang="en-US" sz="1100" noProof="1"/>
          </a:p>
        </p:txBody>
      </p:sp>
      <p:sp>
        <p:nvSpPr>
          <p:cNvPr id="3" name="page-no"/>
          <p:cNvSpPr txBox="1"/>
          <p:nvPr/>
        </p:nvSpPr>
        <p:spPr>
          <a:xfrm>
            <a:off x="9601200" y="381000"/>
            <a:ext cx="1879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35000"/>
              </a:lnSpc>
            </a:pPr>
            <a:r>
              <a:rPr lang="en-US" sz="1000" noProof="1">
                <a:solidFill>
                  <a:srgbClr val="9AA5A1"/>
                </a:solidFill>
                <a:latin typeface="MiSans"/>
                <a:ea typeface="MiSans"/>
              </a:rPr>
              <a:t>背景 2 / 2</a:t>
            </a:r>
            <a:endParaRPr lang="en-US" sz="1000" noProof="1"/>
          </a:p>
        </p:txBody>
      </p:sp>
      <p:sp>
        <p:nvSpPr>
          <p:cNvPr id="4" name="title"/>
          <p:cNvSpPr txBox="1"/>
          <p:nvPr/>
        </p:nvSpPr>
        <p:spPr>
          <a:xfrm>
            <a:off x="711200" y="609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3292E"/>
                </a:solidFill>
                <a:latin typeface="MiSans"/>
                <a:ea typeface="MiSans"/>
              </a:rPr>
              <a:t>知识库在远端：拼接上下文的隐性开销</a:t>
            </a:r>
            <a:endParaRPr lang="en-US" sz="2500" noProof="1"/>
          </a:p>
        </p:txBody>
      </p:sp>
      <p:sp>
        <p:nvSpPr>
          <p:cNvPr id="5" name="title-rule"/>
          <p:cNvSpPr/>
          <p:nvPr/>
        </p:nvSpPr>
        <p:spPr>
          <a:xfrm>
            <a:off x="711200" y="1168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6" name="flow-a-label"/>
          <p:cNvSpPr txBox="1"/>
          <p:nvPr/>
        </p:nvSpPr>
        <p:spPr>
          <a:xfrm>
            <a:off x="711200" y="1524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5F6B72"/>
                </a:solidFill>
                <a:latin typeface="MiSans"/>
                <a:ea typeface="MiSans"/>
              </a:rPr>
              <a:t>现状：每次查询都到远端拉取</a:t>
            </a:r>
            <a:endParaRPr lang="en-US" sz="1200" noProof="1"/>
          </a:p>
        </p:txBody>
      </p:sp>
      <p:sp>
        <p:nvSpPr>
          <p:cNvPr id="7" name="fa-n1"/>
          <p:cNvSpPr/>
          <p:nvPr/>
        </p:nvSpPr>
        <p:spPr>
          <a:xfrm>
            <a:off x="711200" y="1854200"/>
            <a:ext cx="1066800" cy="4826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8" name="fa-n1-t"/>
          <p:cNvSpPr txBox="1"/>
          <p:nvPr/>
        </p:nvSpPr>
        <p:spPr>
          <a:xfrm>
            <a:off x="711200" y="1854200"/>
            <a:ext cx="1066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请求</a:t>
            </a:r>
            <a:endParaRPr lang="en-US" sz="1100" noProof="1"/>
          </a:p>
        </p:txBody>
      </p:sp>
      <p:sp>
        <p:nvSpPr>
          <p:cNvPr id="9" name="fa-arr1"/>
          <p:cNvSpPr/>
          <p:nvPr>
            <p:extLst>
              <p:ext uri="{F5677B7D-0D2A-4D9B-9A5C-6D8D7D0E5A5D}">
                <pptd:line encoding="base64url">eyJ2aWV3Qm94IjpbMzQsNl0sInBvaW50cyI6IjAsMyAzNCwzIn0</pptd:line>
              </p:ext>
            </p:extLst>
          </p:nvPr>
        </p:nvSpPr>
        <p:spPr>
          <a:xfrm>
            <a:off x="1828800" y="203200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34" h="6">
                <a:moveTo>
                  <a:pt x="0" y="3"/>
                </a:moveTo>
                <a:lnTo>
                  <a:pt x="34" y="3"/>
                </a:lnTo>
              </a:path>
            </a:pathLst>
          </a:custGeom>
          <a:noFill/>
          <a:ln w="19050" cap="rnd">
            <a:solidFill>
              <a:srgbClr val="C9752F"/>
            </a:solidFill>
            <a:round/>
            <a:tailEnd type="stealth"/>
          </a:ln>
        </p:spPr>
      </p:sp>
      <p:sp>
        <p:nvSpPr>
          <p:cNvPr id="10" name="fa-n2"/>
          <p:cNvSpPr/>
          <p:nvPr/>
        </p:nvSpPr>
        <p:spPr>
          <a:xfrm>
            <a:off x="2311400" y="1854200"/>
            <a:ext cx="1651000" cy="4826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11" name="fa-n2-t"/>
          <p:cNvSpPr txBox="1"/>
          <p:nvPr/>
        </p:nvSpPr>
        <p:spPr>
          <a:xfrm>
            <a:off x="2311400" y="1854200"/>
            <a:ext cx="1651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远端知识库平台（团队共享）</a:t>
            </a:r>
            <a:endParaRPr lang="en-US" sz="1100" noProof="1"/>
          </a:p>
        </p:txBody>
      </p:sp>
      <p:sp>
        <p:nvSpPr>
          <p:cNvPr id="12" name="fa-arr2"/>
          <p:cNvSpPr/>
          <p:nvPr>
            <p:extLst>
              <p:ext uri="{F5677B7D-0D2A-4D9B-9A5C-6D8D7D0E5A5D}">
                <pptd:line encoding="base64url">eyJ2aWV3Qm94IjpbMzQsNl0sInBvaW50cyI6IjAsMyAzNCwzIn0</pptd:line>
              </p:ext>
            </p:extLst>
          </p:nvPr>
        </p:nvSpPr>
        <p:spPr>
          <a:xfrm>
            <a:off x="4013200" y="203200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34" h="6">
                <a:moveTo>
                  <a:pt x="0" y="3"/>
                </a:moveTo>
                <a:lnTo>
                  <a:pt x="34" y="3"/>
                </a:lnTo>
              </a:path>
            </a:pathLst>
          </a:custGeom>
          <a:noFill/>
          <a:ln w="15240" cap="rnd">
            <a:solidFill>
              <a:srgbClr val="9AA5A1"/>
            </a:solidFill>
            <a:round/>
            <a:tailEnd type="stealth"/>
          </a:ln>
        </p:spPr>
      </p:sp>
      <p:sp>
        <p:nvSpPr>
          <p:cNvPr id="13" name="fa-n3"/>
          <p:cNvSpPr/>
          <p:nvPr/>
        </p:nvSpPr>
        <p:spPr>
          <a:xfrm>
            <a:off x="4495800" y="1854200"/>
            <a:ext cx="1397000" cy="4826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14" name="fa-n3-t"/>
          <p:cNvSpPr txBox="1"/>
          <p:nvPr/>
        </p:nvSpPr>
        <p:spPr>
          <a:xfrm>
            <a:off x="4495800" y="1854200"/>
            <a:ext cx="1397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拼接上下文</a:t>
            </a:r>
            <a:endParaRPr lang="en-US" sz="1100" noProof="1"/>
          </a:p>
        </p:txBody>
      </p:sp>
      <p:sp>
        <p:nvSpPr>
          <p:cNvPr id="15" name="fa-arr3"/>
          <p:cNvSpPr/>
          <p:nvPr>
            <p:extLst>
              <p:ext uri="{F5677B7D-0D2A-4D9B-9A5C-6D8D7D0E5A5D}">
                <pptd:line encoding="base64url">eyJ2aWV3Qm94IjpbMzQsNl0sInBvaW50cyI6IjAsMyAzNCwzIn0</pptd:line>
              </p:ext>
            </p:extLst>
          </p:nvPr>
        </p:nvSpPr>
        <p:spPr>
          <a:xfrm>
            <a:off x="5943600" y="203200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34" h="6">
                <a:moveTo>
                  <a:pt x="0" y="3"/>
                </a:moveTo>
                <a:lnTo>
                  <a:pt x="34" y="3"/>
                </a:lnTo>
              </a:path>
            </a:pathLst>
          </a:custGeom>
          <a:noFill/>
          <a:ln w="15240" cap="rnd">
            <a:solidFill>
              <a:srgbClr val="9AA5A1"/>
            </a:solidFill>
            <a:round/>
            <a:tailEnd type="stealth"/>
          </a:ln>
        </p:spPr>
      </p:sp>
      <p:sp>
        <p:nvSpPr>
          <p:cNvPr id="16" name="fa-n4"/>
          <p:cNvSpPr/>
          <p:nvPr/>
        </p:nvSpPr>
        <p:spPr>
          <a:xfrm>
            <a:off x="6426200" y="1854200"/>
            <a:ext cx="1066800" cy="4826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17" name="fa-n4-t"/>
          <p:cNvSpPr txBox="1"/>
          <p:nvPr/>
        </p:nvSpPr>
        <p:spPr>
          <a:xfrm>
            <a:off x="6426200" y="1854200"/>
            <a:ext cx="1066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推理</a:t>
            </a:r>
            <a:endParaRPr lang="en-US" sz="1100" noProof="1"/>
          </a:p>
        </p:txBody>
      </p:sp>
      <p:sp>
        <p:nvSpPr>
          <p:cNvPr id="18" name="fa-cap"/>
          <p:cNvSpPr txBox="1"/>
          <p:nvPr/>
        </p:nvSpPr>
        <p:spPr>
          <a:xfrm>
            <a:off x="1828800" y="24384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C9752F"/>
                </a:solidFill>
                <a:latin typeface="MiSans"/>
                <a:ea typeface="MiSans"/>
              </a:rPr>
              <a:t>↑ 网络往返拉取资料，拼接上下文耗时长</a:t>
            </a:r>
            <a:endParaRPr lang="en-US" sz="1000" noProof="1"/>
          </a:p>
        </p:txBody>
      </p:sp>
      <p:sp>
        <p:nvSpPr>
          <p:cNvPr id="19" name="flow-b-label"/>
          <p:cNvSpPr txBox="1"/>
          <p:nvPr/>
        </p:nvSpPr>
        <p:spPr>
          <a:xfrm>
            <a:off x="711200" y="29464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55E52"/>
                </a:solidFill>
                <a:latin typeface="MiSans"/>
                <a:ea typeface="MiSans"/>
              </a:rPr>
              <a:t>本课题思路：Flink 键控状态做本地缓存</a:t>
            </a:r>
            <a:endParaRPr lang="en-US" sz="1200" noProof="1"/>
          </a:p>
        </p:txBody>
      </p:sp>
      <p:sp>
        <p:nvSpPr>
          <p:cNvPr id="20" name="fb-n1"/>
          <p:cNvSpPr/>
          <p:nvPr/>
        </p:nvSpPr>
        <p:spPr>
          <a:xfrm>
            <a:off x="711200" y="3276600"/>
            <a:ext cx="1066800" cy="4826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21" name="fb-n1-t"/>
          <p:cNvSpPr txBox="1"/>
          <p:nvPr/>
        </p:nvSpPr>
        <p:spPr>
          <a:xfrm>
            <a:off x="711200" y="3276600"/>
            <a:ext cx="1066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请求</a:t>
            </a:r>
            <a:endParaRPr lang="en-US" sz="1100" noProof="1"/>
          </a:p>
        </p:txBody>
      </p:sp>
      <p:sp>
        <p:nvSpPr>
          <p:cNvPr id="22" name="fb-arr1"/>
          <p:cNvSpPr/>
          <p:nvPr>
            <p:extLst>
              <p:ext uri="{F5677B7D-0D2A-4D9B-9A5C-6D8D7D0E5A5D}">
                <pptd:line encoding="base64url">eyJ2aWV3Qm94IjpbMzQsNl0sInBvaW50cyI6IjAsMyAzNCwzIn0</pptd:line>
              </p:ext>
            </p:extLst>
          </p:nvPr>
        </p:nvSpPr>
        <p:spPr>
          <a:xfrm>
            <a:off x="1828800" y="345440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34" h="6">
                <a:moveTo>
                  <a:pt x="0" y="3"/>
                </a:moveTo>
                <a:lnTo>
                  <a:pt x="34" y="3"/>
                </a:lnTo>
              </a:path>
            </a:pathLst>
          </a:custGeom>
          <a:noFill/>
          <a:ln w="19050" cap="rnd">
            <a:solidFill>
              <a:srgbClr val="155E52"/>
            </a:solidFill>
            <a:round/>
            <a:tailEnd type="stealth"/>
          </a:ln>
        </p:spPr>
      </p:sp>
      <p:sp>
        <p:nvSpPr>
          <p:cNvPr id="23" name="fb-n2"/>
          <p:cNvSpPr/>
          <p:nvPr/>
        </p:nvSpPr>
        <p:spPr>
          <a:xfrm>
            <a:off x="2311400" y="3200400"/>
            <a:ext cx="1651000" cy="635000"/>
          </a:xfrm>
          <a:prstGeom prst="roundRect">
            <a:avLst>
              <a:gd name="adj" fmla="val 14000"/>
            </a:avLst>
          </a:prstGeom>
          <a:solidFill>
            <a:srgbClr val="155E52"/>
          </a:solidFill>
          <a:ln>
            <a:noFill/>
          </a:ln>
        </p:spPr>
      </p:sp>
      <p:sp>
        <p:nvSpPr>
          <p:cNvPr id="24" name="fb-n2-t"/>
          <p:cNvSpPr txBox="1"/>
          <p:nvPr/>
        </p:nvSpPr>
        <p:spPr>
          <a:xfrm>
            <a:off x="2362200" y="3251200"/>
            <a:ext cx="1549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1050" noProof="1" b="1">
                <a:solidFill>
                  <a:srgbClr val="FFFFFF"/>
                </a:solidFill>
                <a:latin typeface="MiSans"/>
                <a:ea typeface="MiSans"/>
              </a:rPr>
              <a:t>Flink 键控状态缓存（最近最常访问资料）</a:t>
            </a:r>
            <a:endParaRPr lang="en-US" sz="1050" noProof="1"/>
          </a:p>
        </p:txBody>
      </p:sp>
      <p:sp>
        <p:nvSpPr>
          <p:cNvPr id="25" name="fb-arr2"/>
          <p:cNvSpPr/>
          <p:nvPr>
            <p:extLst>
              <p:ext uri="{F5677B7D-0D2A-4D9B-9A5C-6D8D7D0E5A5D}">
                <pptd:line encoding="base64url">eyJ2aWV3Qm94IjpbMzQsNl0sInBvaW50cyI6IjAsMyAzNCwzIn0</pptd:line>
              </p:ext>
            </p:extLst>
          </p:nvPr>
        </p:nvSpPr>
        <p:spPr>
          <a:xfrm>
            <a:off x="4013200" y="345440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34" h="6">
                <a:moveTo>
                  <a:pt x="0" y="3"/>
                </a:moveTo>
                <a:lnTo>
                  <a:pt x="34" y="3"/>
                </a:lnTo>
              </a:path>
            </a:pathLst>
          </a:custGeom>
          <a:noFill/>
          <a:ln w="15240" cap="rnd">
            <a:solidFill>
              <a:srgbClr val="9AA5A1"/>
            </a:solidFill>
            <a:round/>
            <a:tailEnd type="stealth"/>
          </a:ln>
        </p:spPr>
      </p:sp>
      <p:sp>
        <p:nvSpPr>
          <p:cNvPr id="26" name="fb-n3"/>
          <p:cNvSpPr/>
          <p:nvPr/>
        </p:nvSpPr>
        <p:spPr>
          <a:xfrm>
            <a:off x="4495800" y="3276600"/>
            <a:ext cx="1397000" cy="4826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27" name="fb-n3-t"/>
          <p:cNvSpPr txBox="1"/>
          <p:nvPr/>
        </p:nvSpPr>
        <p:spPr>
          <a:xfrm>
            <a:off x="4495800" y="3276600"/>
            <a:ext cx="1397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拼接上下文</a:t>
            </a:r>
            <a:endParaRPr lang="en-US" sz="1100" noProof="1"/>
          </a:p>
        </p:txBody>
      </p:sp>
      <p:sp>
        <p:nvSpPr>
          <p:cNvPr id="28" name="fb-arr3"/>
          <p:cNvSpPr/>
          <p:nvPr>
            <p:extLst>
              <p:ext uri="{F5677B7D-0D2A-4D9B-9A5C-6D8D7D0E5A5D}">
                <pptd:line encoding="base64url">eyJ2aWV3Qm94IjpbMzQsNl0sInBvaW50cyI6IjAsMyAzNCwzIn0</pptd:line>
              </p:ext>
            </p:extLst>
          </p:nvPr>
        </p:nvSpPr>
        <p:spPr>
          <a:xfrm>
            <a:off x="5943600" y="3454400"/>
            <a:ext cx="431800" cy="76200"/>
          </a:xfrm>
          <a:custGeom>
            <a:avLst/>
            <a:gdLst/>
            <a:ahLst/>
            <a:cxnLst/>
            <a:rect l="l" t="t" r="r" b="b"/>
            <a:pathLst>
              <a:path w="34" h="6">
                <a:moveTo>
                  <a:pt x="0" y="3"/>
                </a:moveTo>
                <a:lnTo>
                  <a:pt x="34" y="3"/>
                </a:lnTo>
              </a:path>
            </a:pathLst>
          </a:custGeom>
          <a:noFill/>
          <a:ln w="15240" cap="rnd">
            <a:solidFill>
              <a:srgbClr val="9AA5A1"/>
            </a:solidFill>
            <a:round/>
            <a:tailEnd type="stealth"/>
          </a:ln>
        </p:spPr>
      </p:sp>
      <p:sp>
        <p:nvSpPr>
          <p:cNvPr id="29" name="fb-n4"/>
          <p:cNvSpPr/>
          <p:nvPr/>
        </p:nvSpPr>
        <p:spPr>
          <a:xfrm>
            <a:off x="6426200" y="3276600"/>
            <a:ext cx="1066800" cy="4826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30" name="fb-n4-t"/>
          <p:cNvSpPr txBox="1"/>
          <p:nvPr/>
        </p:nvSpPr>
        <p:spPr>
          <a:xfrm>
            <a:off x="6426200" y="3276600"/>
            <a:ext cx="1066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推理</a:t>
            </a:r>
            <a:endParaRPr lang="en-US" sz="1100" noProof="1"/>
          </a:p>
        </p:txBody>
      </p:sp>
      <p:sp>
        <p:nvSpPr>
          <p:cNvPr id="31" name="fb-cap"/>
          <p:cNvSpPr txBox="1"/>
          <p:nvPr/>
        </p:nvSpPr>
        <p:spPr>
          <a:xfrm>
            <a:off x="1828800" y="3860800"/>
            <a:ext cx="330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155E52"/>
                </a:solidFill>
                <a:latin typeface="MiSans"/>
                <a:ea typeface="MiSans"/>
              </a:rPr>
              <a:t>↑ 拼接时直接从状态获取，省去远端拉取</a:t>
            </a:r>
            <a:endParaRPr lang="en-US" sz="1000" noProof="1"/>
          </a:p>
        </p:txBody>
      </p:sp>
      <p:sp>
        <p:nvSpPr>
          <p:cNvPr id="32" name="right-text"/>
          <p:cNvSpPr txBox="1"/>
          <p:nvPr/>
        </p:nvSpPr>
        <p:spPr>
          <a:xfrm>
            <a:off x="8128000" y="1676400"/>
            <a:ext cx="33528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250" noProof="1" b="1">
                <a:solidFill>
                  <a:srgbClr val="23292E"/>
                </a:solidFill>
                <a:latin typeface="MiSans"/>
                <a:ea typeface="MiSans"/>
              </a:rPr>
              <a:t>企业主流部署</a:t>
            </a:r>
            <a:r>
              <a:rPr lang="en-US" sz="1250" noProof="1">
                <a:solidFill>
                  <a:srgbClr val="23292E"/>
                </a:solidFill>
                <a:latin typeface="MiSans"/>
                <a:ea typeface="MiSans"/>
              </a:rPr>
              <a:t>：知识库部署在远端平台，团队共享同一份知识库。</a:t>
            </a:r>
            <a:endParaRPr lang="en-US" sz="1250" noProof="1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250" noProof="1" b="1">
                <a:solidFill>
                  <a:srgbClr val="23292E"/>
                </a:solidFill>
                <a:latin typeface="MiSans"/>
                <a:ea typeface="MiSans"/>
              </a:rPr>
              <a:t>问题</a:t>
            </a:r>
            <a:r>
              <a:rPr lang="en-US" sz="1250" noProof="1">
                <a:solidFill>
                  <a:srgbClr val="23292E"/>
                </a:solidFill>
                <a:latin typeface="MiSans"/>
                <a:ea typeface="MiSans"/>
              </a:rPr>
              <a:t>：查询时需到远端拉取知识库内容，拼接上下文耗时。</a:t>
            </a:r>
            <a:endParaRPr lang="en-US" sz="1250" noProof="1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250" noProof="1" b="1">
                <a:solidFill>
                  <a:srgbClr val="23292E"/>
                </a:solidFill>
                <a:latin typeface="MiSans"/>
                <a:ea typeface="MiSans"/>
              </a:rPr>
              <a:t>思路</a:t>
            </a:r>
            <a:r>
              <a:rPr lang="en-US" sz="1250" noProof="1">
                <a:solidFill>
                  <a:srgbClr val="23292E"/>
                </a:solidFill>
                <a:latin typeface="MiSans"/>
                <a:ea typeface="MiSans"/>
              </a:rPr>
              <a:t>：把 Flink 的状态能力用于多轮会话 / 跨会话的知识库缓存，缓存最近最常访问的知识资料。</a:t>
            </a:r>
            <a:endParaRPr lang="en-US" sz="1250" noProof="1"/>
          </a:p>
        </p:txBody>
      </p:sp>
      <p:sp>
        <p:nvSpPr>
          <p:cNvPr id="33" name="takeaway-bar"/>
          <p:cNvSpPr/>
          <p:nvPr/>
        </p:nvSpPr>
        <p:spPr>
          <a:xfrm>
            <a:off x="711200" y="5613400"/>
            <a:ext cx="38100" cy="5334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34" name="takeaway"/>
          <p:cNvSpPr txBox="1"/>
          <p:nvPr/>
        </p:nvSpPr>
        <p:spPr>
          <a:xfrm>
            <a:off x="914400" y="5613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350" noProof="1">
                <a:solidFill>
                  <a:srgbClr val="23292E"/>
                </a:solidFill>
                <a:latin typeface="MiSans"/>
                <a:ea typeface="MiSans"/>
              </a:rPr>
              <a:t>知识库缓存 = 多轮 / 跨会话复用的第二类形态；Flink 算子状态是它的天然载体，也是本课题「语义记忆」的落点。</a:t>
            </a:r>
            <a:endParaRPr lang="en-US" sz="1350" noProof="1"/>
          </a:p>
        </p:txBody>
      </p:sp>
      <p:sp>
        <p:nvSpPr>
          <p:cNvPr id="35" name="footer-left"/>
          <p:cNvSpPr txBox="1"/>
          <p:nvPr/>
        </p:nvSpPr>
        <p:spPr>
          <a:xfrm>
            <a:off x="711200" y="6502400"/>
            <a:ext cx="762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毕业设计初版方案 · 面向 SLO 的知识库缓存动态优化的流式 Agent 推理系统</a:t>
            </a:r>
            <a:endParaRPr lang="en-US" sz="900" noProof="1"/>
          </a:p>
        </p:txBody>
      </p:sp>
      <p:sp>
        <p:nvSpPr>
          <p:cNvPr id="36" name="footer-right"/>
          <p:cNvSpPr txBox="1"/>
          <p:nvPr/>
        </p:nvSpPr>
        <p:spPr>
          <a:xfrm>
            <a:off x="10871200" y="65024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04 / 17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55E52"/>
                </a:solidFill>
                <a:latin typeface="MiSans"/>
                <a:ea typeface="MiSans"/>
              </a:rPr>
              <a:t>01 · 研究背景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3292E"/>
                </a:solidFill>
                <a:latin typeface="MiSans"/>
                <a:ea typeface="MiSans"/>
              </a:rPr>
              <a:t>问题定义：双约束 SLO 下的三个研究问题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711200" y="1168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5" name="slo-label"/>
          <p:cNvSpPr txBox="1"/>
          <p:nvPr/>
        </p:nvSpPr>
        <p:spPr>
          <a:xfrm>
            <a:off x="711200" y="1422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5F6B72"/>
                </a:solidFill>
                <a:latin typeface="MiSans"/>
                <a:ea typeface="MiSans"/>
              </a:rPr>
              <a:t>SLO 包含两个部分</a:t>
            </a:r>
            <a:endParaRPr lang="en-US" sz="1300" noProof="1"/>
          </a:p>
        </p:txBody>
      </p:sp>
      <p:sp>
        <p:nvSpPr>
          <p:cNvPr id="6" name="slo1-box"/>
          <p:cNvSpPr/>
          <p:nvPr/>
        </p:nvSpPr>
        <p:spPr>
          <a:xfrm>
            <a:off x="711200" y="1752600"/>
            <a:ext cx="5181600" cy="787400"/>
          </a:xfrm>
          <a:prstGeom prst="rect">
            <a:avLst/>
          </a:prstGeom>
          <a:solidFill>
            <a:srgbClr val="F2F5F0"/>
          </a:solidFill>
          <a:ln>
            <a:noFill/>
          </a:ln>
        </p:spPr>
      </p:sp>
      <p:sp>
        <p:nvSpPr>
          <p:cNvPr id="7" name="slo1-edge"/>
          <p:cNvSpPr/>
          <p:nvPr/>
        </p:nvSpPr>
        <p:spPr>
          <a:xfrm>
            <a:off x="711200" y="1752600"/>
            <a:ext cx="38100" cy="7874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8" name="slo1-t"/>
          <p:cNvSpPr txBox="1"/>
          <p:nvPr/>
        </p:nvSpPr>
        <p:spPr>
          <a:xfrm>
            <a:off x="914400" y="18542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b="1">
                <a:solidFill>
                  <a:srgbClr val="155E52"/>
                </a:solidFill>
                <a:latin typeface="MiSans"/>
                <a:ea typeface="MiSans"/>
              </a:rPr>
              <a:t>① 端到端时延</a:t>
            </a:r>
            <a:endParaRPr lang="en-US" sz="1450" noProof="1"/>
          </a:p>
        </p:txBody>
      </p:sp>
      <p:sp>
        <p:nvSpPr>
          <p:cNvPr id="9" name="slo1-d"/>
          <p:cNvSpPr txBox="1"/>
          <p:nvPr/>
        </p:nvSpPr>
        <p:spPr>
          <a:xfrm>
            <a:off x="914400" y="2159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F6B72"/>
                </a:solidFill>
                <a:latin typeface="MiSans"/>
                <a:ea typeface="MiSans"/>
              </a:rPr>
              <a:t>端到端时延 ＝ 排队时延 ＋ 推理时延，关注 TTFT 与 P50 / P95</a:t>
            </a:r>
            <a:endParaRPr lang="en-US" sz="1150" noProof="1"/>
          </a:p>
        </p:txBody>
      </p:sp>
      <p:sp>
        <p:nvSpPr>
          <p:cNvPr id="10" name="slo2-box"/>
          <p:cNvSpPr/>
          <p:nvPr/>
        </p:nvSpPr>
        <p:spPr>
          <a:xfrm>
            <a:off x="6299200" y="1752600"/>
            <a:ext cx="5181600" cy="787400"/>
          </a:xfrm>
          <a:prstGeom prst="rect">
            <a:avLst/>
          </a:prstGeom>
          <a:solidFill>
            <a:srgbClr val="F2F5F0"/>
          </a:solidFill>
          <a:ln>
            <a:noFill/>
          </a:ln>
        </p:spPr>
      </p:sp>
      <p:sp>
        <p:nvSpPr>
          <p:cNvPr id="11" name="slo2-edge"/>
          <p:cNvSpPr/>
          <p:nvPr/>
        </p:nvSpPr>
        <p:spPr>
          <a:xfrm>
            <a:off x="6299200" y="1752600"/>
            <a:ext cx="38100" cy="787400"/>
          </a:xfrm>
          <a:prstGeom prst="rect">
            <a:avLst/>
          </a:prstGeom>
          <a:solidFill>
            <a:srgbClr val="C9752F"/>
          </a:solidFill>
          <a:ln>
            <a:noFill/>
          </a:ln>
        </p:spPr>
      </p:sp>
      <p:sp>
        <p:nvSpPr>
          <p:cNvPr id="12" name="slo2-t"/>
          <p:cNvSpPr txBox="1"/>
          <p:nvPr/>
        </p:nvSpPr>
        <p:spPr>
          <a:xfrm>
            <a:off x="6502400" y="18542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b="1">
                <a:solidFill>
                  <a:srgbClr val="C9752F"/>
                </a:solidFill>
                <a:latin typeface="MiSans"/>
                <a:ea typeface="MiSans"/>
              </a:rPr>
              <a:t>② 错误率</a:t>
            </a:r>
            <a:endParaRPr lang="en-US" sz="1450" noProof="1"/>
          </a:p>
        </p:txBody>
      </p:sp>
      <p:sp>
        <p:nvSpPr>
          <p:cNvPr id="13" name="slo2-d"/>
          <p:cNvSpPr txBox="1"/>
          <p:nvPr/>
        </p:nvSpPr>
        <p:spPr>
          <a:xfrm>
            <a:off x="6502400" y="2159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F6B72"/>
                </a:solidFill>
                <a:latin typeface="MiSans"/>
                <a:ea typeface="MiSans"/>
              </a:rPr>
              <a:t>推理短路产生的错误回复比例 ≤ 用户指定阈值 δ</a:t>
            </a:r>
            <a:endParaRPr lang="en-US" sz="1150" noProof="1"/>
          </a:p>
        </p:txBody>
      </p:sp>
      <p:sp>
        <p:nvSpPr>
          <p:cNvPr id="14" name="q-label"/>
          <p:cNvSpPr txBox="1"/>
          <p:nvPr/>
        </p:nvSpPr>
        <p:spPr>
          <a:xfrm>
            <a:off x="711200" y="284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5F6B72"/>
                </a:solidFill>
                <a:latin typeface="MiSans"/>
                <a:ea typeface="MiSans"/>
              </a:rPr>
              <a:t>由此分解出三个研究问题（感知 → 决策 → 执行）</a:t>
            </a:r>
            <a:endParaRPr lang="en-US" sz="1300" noProof="1"/>
          </a:p>
        </p:txBody>
      </p:sp>
      <p:sp>
        <p:nvSpPr>
          <p:cNvPr id="15" name="q1-num"/>
          <p:cNvSpPr txBox="1"/>
          <p:nvPr/>
        </p:nvSpPr>
        <p:spPr>
          <a:xfrm>
            <a:off x="711200" y="32258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55E52"/>
                </a:solidFill>
                <a:latin typeface="MiSans"/>
                <a:ea typeface="MiSans"/>
              </a:rPr>
              <a:t>Q1</a:t>
            </a:r>
            <a:endParaRPr lang="en-US" sz="1700" noProof="1"/>
          </a:p>
        </p:txBody>
      </p:sp>
      <p:sp>
        <p:nvSpPr>
          <p:cNvPr id="16" name="q1-title"/>
          <p:cNvSpPr txBox="1"/>
          <p:nvPr/>
        </p:nvSpPr>
        <p:spPr>
          <a:xfrm>
            <a:off x="1473200" y="32258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b="1">
                <a:solidFill>
                  <a:srgbClr val="23292E"/>
                </a:solidFill>
                <a:latin typeface="MiSans"/>
                <a:ea typeface="MiSans"/>
              </a:rPr>
              <a:t>感知｜如何高效、准确地预测多轮上下文下的推理长度与端到端时延？</a:t>
            </a:r>
            <a:endParaRPr lang="en-US" sz="1450" noProof="1"/>
          </a:p>
        </p:txBody>
      </p:sp>
      <p:sp>
        <p:nvSpPr>
          <p:cNvPr id="17" name="q1-desc"/>
          <p:cNvSpPr txBox="1"/>
          <p:nvPr/>
        </p:nvSpPr>
        <p:spPr>
          <a:xfrm>
            <a:off x="1473200" y="3530600"/>
            <a:ext cx="1000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5F6B72"/>
                </a:solidFill>
                <a:latin typeface="MiSans"/>
                <a:ea typeface="MiSans"/>
              </a:rPr>
              <a:t>预测是所有配置与调度决策的输入；多轮上下文与排队效应是现有单轮预测未覆盖的部分。</a:t>
            </a:r>
            <a:endParaRPr lang="en-US" sz="1100" noProof="1"/>
          </a:p>
        </p:txBody>
      </p:sp>
      <p:sp>
        <p:nvSpPr>
          <p:cNvPr id="18" name="q1-line"/>
          <p:cNvSpPr/>
          <p:nvPr/>
        </p:nvSpPr>
        <p:spPr>
          <a:xfrm>
            <a:off x="711200" y="38862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19" name="q2-num"/>
          <p:cNvSpPr txBox="1"/>
          <p:nvPr/>
        </p:nvSpPr>
        <p:spPr>
          <a:xfrm>
            <a:off x="711200" y="40894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55E52"/>
                </a:solidFill>
                <a:latin typeface="MiSans"/>
                <a:ea typeface="MiSans"/>
              </a:rPr>
              <a:t>Q2</a:t>
            </a:r>
            <a:endParaRPr lang="en-US" sz="1700" noProof="1"/>
          </a:p>
        </p:txBody>
      </p:sp>
      <p:sp>
        <p:nvSpPr>
          <p:cNvPr id="20" name="q2-title"/>
          <p:cNvSpPr txBox="1"/>
          <p:nvPr/>
        </p:nvSpPr>
        <p:spPr>
          <a:xfrm>
            <a:off x="1473200" y="4089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b="1">
                <a:solidFill>
                  <a:srgbClr val="23292E"/>
                </a:solidFill>
                <a:latin typeface="MiSans"/>
                <a:ea typeface="MiSans"/>
              </a:rPr>
              <a:t>决策｜如何在满足 SLO 的前提下最小化缓存与推理资源，并安全地短路推理？</a:t>
            </a:r>
            <a:endParaRPr lang="en-US" sz="1450" noProof="1"/>
          </a:p>
        </p:txBody>
      </p:sp>
      <p:sp>
        <p:nvSpPr>
          <p:cNvPr id="21" name="q2-desc"/>
          <p:cNvSpPr txBox="1"/>
          <p:nvPr/>
        </p:nvSpPr>
        <p:spPr>
          <a:xfrm>
            <a:off x="1473200" y="4394200"/>
            <a:ext cx="1000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5F6B72"/>
                </a:solidFill>
                <a:latin typeface="MiSans"/>
                <a:ea typeface="MiSans"/>
              </a:rPr>
              <a:t>语义库容量、推理并行度、批次大小与短路阈值需要联合调优；短路复用必须受错误率约束。</a:t>
            </a:r>
            <a:endParaRPr lang="en-US" sz="1100" noProof="1"/>
          </a:p>
        </p:txBody>
      </p:sp>
      <p:sp>
        <p:nvSpPr>
          <p:cNvPr id="22" name="q2-line"/>
          <p:cNvSpPr/>
          <p:nvPr/>
        </p:nvSpPr>
        <p:spPr>
          <a:xfrm>
            <a:off x="711200" y="47498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23" name="q3-num"/>
          <p:cNvSpPr txBox="1"/>
          <p:nvPr/>
        </p:nvSpPr>
        <p:spPr>
          <a:xfrm>
            <a:off x="711200" y="4953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155E52"/>
                </a:solidFill>
                <a:latin typeface="MiSans"/>
                <a:ea typeface="MiSans"/>
              </a:rPr>
              <a:t>Q3</a:t>
            </a:r>
            <a:endParaRPr lang="en-US" sz="1700" noProof="1"/>
          </a:p>
        </p:txBody>
      </p:sp>
      <p:sp>
        <p:nvSpPr>
          <p:cNvPr id="24" name="q3-title"/>
          <p:cNvSpPr txBox="1"/>
          <p:nvPr/>
        </p:nvSpPr>
        <p:spPr>
          <a:xfrm>
            <a:off x="1473200" y="49530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b="1">
                <a:solidFill>
                  <a:srgbClr val="23292E"/>
                </a:solidFill>
                <a:latin typeface="MiSans"/>
                <a:ea typeface="MiSans"/>
              </a:rPr>
              <a:t>执行｜给定容量下缓存什么命中率最高？扩缩容时如何保持会话亲和？</a:t>
            </a:r>
            <a:endParaRPr lang="en-US" sz="1450" noProof="1"/>
          </a:p>
        </p:txBody>
      </p:sp>
      <p:sp>
        <p:nvSpPr>
          <p:cNvPr id="25" name="q3-desc"/>
          <p:cNvSpPr txBox="1"/>
          <p:nvPr/>
        </p:nvSpPr>
        <p:spPr>
          <a:xfrm>
            <a:off x="1473200" y="5257800"/>
            <a:ext cx="1000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5F6B72"/>
                </a:solidFill>
                <a:latin typeface="MiSans"/>
                <a:ea typeface="MiSans"/>
              </a:rPr>
              <a:t>缓存项替换决定命中率，进而决定检索召回时间与端到端时延；路由决定会话状态是否就地可用。</a:t>
            </a:r>
            <a:endParaRPr lang="en-US" sz="1100" noProof="1"/>
          </a:p>
        </p:txBody>
      </p:sp>
      <p:sp>
        <p:nvSpPr>
          <p:cNvPr id="26" name="q3-line"/>
          <p:cNvSpPr/>
          <p:nvPr/>
        </p:nvSpPr>
        <p:spPr>
          <a:xfrm>
            <a:off x="711200" y="5613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27" name="q-note"/>
          <p:cNvSpPr txBox="1"/>
          <p:nvPr/>
        </p:nvSpPr>
        <p:spPr>
          <a:xfrm>
            <a:off x="711200" y="5842000"/>
            <a:ext cx="10769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23292E"/>
                </a:solidFill>
                <a:latin typeface="MiSans"/>
                <a:ea typeface="MiSans"/>
              </a:rPr>
              <a:t>三个问题对应论文的三个研究点（点 1 预测 → 点 2 调优与短路 → 点 3 执行层优化），构成一个闭环。</a:t>
            </a:r>
            <a:endParaRPr lang="en-US" sz="1300" noProof="1"/>
          </a:p>
        </p:txBody>
      </p:sp>
      <p:sp>
        <p:nvSpPr>
          <p:cNvPr id="28" name="footer-left"/>
          <p:cNvSpPr txBox="1"/>
          <p:nvPr/>
        </p:nvSpPr>
        <p:spPr>
          <a:xfrm>
            <a:off x="711200" y="6502400"/>
            <a:ext cx="762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毕业设计初版方案 · 面向 SLO 的知识库缓存动态优化的流式 Agent 推理系统</a:t>
            </a:r>
            <a:endParaRPr lang="en-US" sz="900" noProof="1"/>
          </a:p>
        </p:txBody>
      </p:sp>
      <p:sp>
        <p:nvSpPr>
          <p:cNvPr id="29" name="footer-right"/>
          <p:cNvSpPr txBox="1"/>
          <p:nvPr/>
        </p:nvSpPr>
        <p:spPr>
          <a:xfrm>
            <a:off x="10871200" y="65024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05 / 17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55E52"/>
                </a:solidFill>
                <a:latin typeface="MiSans"/>
                <a:ea typeface="MiSans"/>
              </a:rPr>
              <a:t>02 · 相关工作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3292E"/>
                </a:solidFill>
                <a:latin typeface="MiSans"/>
                <a:ea typeface="MiSans"/>
              </a:rPr>
              <a:t>相关工作与本课题的差异化位置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711200" y="1168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graphicFrame>
        <p:nvGraphicFramePr>
          <p:cNvPr id="5" name="related-table"/>
          <p:cNvGraphicFramePr>
            <a:graphicFrameLocks noGrp="1"/>
          </p:cNvGraphicFramePr>
          <p:nvPr/>
        </p:nvGraphicFramePr>
        <p:xfrm>
          <a:off x="711200" y="1473200"/>
          <a:ext cx="10769600" cy="3759200"/>
        </p:xfrm>
        <a:graphic>
          <a:graphicData uri="http://schemas.openxmlformats.org/drawingml/2006/table">
            <a:tbl>
              <a:tblPr/>
              <a:tblGrid>
                <a:gridCol w="1830832"/>
                <a:gridCol w="2907792"/>
                <a:gridCol w="3446272"/>
                <a:gridCol w="2584704"/>
              </a:tblGrid>
              <a:tr h="488696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工作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155E5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核心机制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155E5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局限（留给本课题的空白）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155E5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对本课题的借鉴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155E52"/>
                    </a:solidFill>
                  </a:tcPr>
                </a:tc>
              </a:tr>
              <a:tr h="81762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GPTCache 等工业语义缓存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全局静态相似度阈值（典型 0.8）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无错误率保证；正误命中的相似度分布高度重叠，错误率不可控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语义准入的基本范式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762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vCache（ICLR 2026）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逐条目阈值在线学习 ＋ 用户可定义的 δ 错误率保证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单机、单轮、静态负载；无容量与淘汰；无 SLO 与推理资源的联合优化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正确复用概率估计 → 做贴合流处理场景的简版实现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6F8F5"/>
                    </a:solidFill>
                  </a:tcPr>
                </a:tc>
              </a:tr>
              <a:tr h="81762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小红书流式推理系统 ＋ 启明短路读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单轮流式推理管线、轻量 ML 时延预测、频率驱动的缓存替换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面向单轮对话，无跨轮 / 跨会话状态复用；短路读非 LLM 推理场景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预测与缓存替换算法的改进起点；「短路」思路来源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762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本课题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E4EEE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Flink 流处理层 × 语义记忆 × 双约束 SLO 联合控制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E4EEE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——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E4EEE9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多轮 Agent 会话下「预测 → 配置 → 执行」闭环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E4EEE9"/>
                    </a:solidFill>
                  </a:tcPr>
                </a:tc>
              </a:tr>
            </a:tbl>
          </a:graphicData>
        </a:graphic>
      </p:graphicFrame>
      <p:sp>
        <p:nvSpPr>
          <p:cNvPr id="6" name="diff-bar"/>
          <p:cNvSpPr/>
          <p:nvPr/>
        </p:nvSpPr>
        <p:spPr>
          <a:xfrm>
            <a:off x="711200" y="5537200"/>
            <a:ext cx="38100" cy="5334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7" name="diff-text"/>
          <p:cNvSpPr txBox="1"/>
          <p:nvPr/>
        </p:nvSpPr>
        <p:spPr>
          <a:xfrm>
            <a:off x="914400" y="55372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300" noProof="1" b="1">
                <a:solidFill>
                  <a:srgbClr val="23292E"/>
                </a:solidFill>
                <a:latin typeface="MiSans"/>
                <a:ea typeface="MiSans"/>
              </a:rPr>
              <a:t>差异化锚点</a:t>
            </a:r>
            <a:r>
              <a:rPr lang="en-US" sz="1300" noProof="1">
                <a:solidFill>
                  <a:srgbClr val="23292E"/>
                </a:solidFill>
                <a:latin typeface="MiSans"/>
                <a:ea typeface="MiSans"/>
              </a:rPr>
              <a:t>：现有工作都在「引擎内」或「单机」打补丁；本课题在</a:t>
            </a: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流处理层</a:t>
            </a:r>
            <a:r>
              <a:rPr lang="en-US" sz="1300" noProof="1">
                <a:solidFill>
                  <a:srgbClr val="23292E"/>
                </a:solidFill>
                <a:latin typeface="MiSans"/>
                <a:ea typeface="MiSans"/>
              </a:rPr>
              <a:t>把语义记忆当作与推理资源、SLO </a:t>
            </a:r>
            <a:r>
              <a:rPr lang="en-US" sz="1300" noProof="1" b="1">
                <a:solidFill>
                  <a:srgbClr val="23292E"/>
                </a:solidFill>
                <a:latin typeface="MiSans"/>
                <a:ea typeface="MiSans"/>
              </a:rPr>
              <a:t>联合控制</a:t>
            </a:r>
            <a:r>
              <a:rPr lang="en-US" sz="1300" noProof="1">
                <a:solidFill>
                  <a:srgbClr val="23292E"/>
                </a:solidFill>
                <a:latin typeface="MiSans"/>
                <a:ea typeface="MiSans"/>
              </a:rPr>
              <a:t>的可控状态。</a:t>
            </a:r>
            <a:endParaRPr lang="en-US" sz="1300" noProof="1"/>
          </a:p>
        </p:txBody>
      </p:sp>
      <p:sp>
        <p:nvSpPr>
          <p:cNvPr id="8" name="footer-left"/>
          <p:cNvSpPr txBox="1"/>
          <p:nvPr/>
        </p:nvSpPr>
        <p:spPr>
          <a:xfrm>
            <a:off x="711200" y="6502400"/>
            <a:ext cx="762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毕业设计初版方案 · 面向 SLO 的知识库缓存动态优化的流式 Agent 推理系统</a:t>
            </a:r>
            <a:endParaRPr lang="en-US" sz="900" noProof="1"/>
          </a:p>
        </p:txBody>
      </p:sp>
      <p:sp>
        <p:nvSpPr>
          <p:cNvPr id="9" name="footer-right"/>
          <p:cNvSpPr txBox="1"/>
          <p:nvPr/>
        </p:nvSpPr>
        <p:spPr>
          <a:xfrm>
            <a:off x="10871200" y="65024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06 / 17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55E52"/>
                </a:solidFill>
                <a:latin typeface="MiSans"/>
                <a:ea typeface="MiSans"/>
              </a:rPr>
              <a:t>03 · 研究框架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3292E"/>
                </a:solidFill>
                <a:latin typeface="MiSans"/>
                <a:ea typeface="MiSans"/>
              </a:rPr>
              <a:t>研究故事线：让「语义记忆」成为管线上可控的资源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711200" y="1168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5" name="intro"/>
          <p:cNvSpPr txBox="1"/>
          <p:nvPr/>
        </p:nvSpPr>
        <p:spPr>
          <a:xfrm>
            <a:off x="711200" y="1346200"/>
            <a:ext cx="10769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50" noProof="1">
                <a:solidFill>
                  <a:srgbClr val="5F6B72"/>
                </a:solidFill>
                <a:latin typeface="MiSans"/>
                <a:ea typeface="MiSans"/>
              </a:rPr>
              <a:t>多轮 Agent 会话把推理从「每次独立完成的一次计算」变成「跨轮、跨会话可复用的状态」。本研究用 Flink 键控状态承载这份语义记忆，在流式推理管线上建立如下闭环：</a:t>
            </a:r>
            <a:endParaRPr lang="en-US" sz="1250" noProof="1"/>
          </a:p>
        </p:txBody>
      </p:sp>
      <p:sp>
        <p:nvSpPr>
          <p:cNvPr id="6" name="loop-n1"/>
          <p:cNvSpPr/>
          <p:nvPr/>
        </p:nvSpPr>
        <p:spPr>
          <a:xfrm>
            <a:off x="1397000" y="2032000"/>
            <a:ext cx="3175000" cy="838200"/>
          </a:xfrm>
          <a:prstGeom prst="roundRect">
            <a:avLst>
              <a:gd name="adj" fmla="val 12000"/>
            </a:avLst>
          </a:prstGeom>
          <a:solidFill>
            <a:srgbClr val="E4EEE9"/>
          </a:solidFill>
          <a:ln w="12700">
            <a:solidFill>
              <a:srgbClr val="155E52"/>
            </a:solidFill>
          </a:ln>
        </p:spPr>
      </p:sp>
      <p:sp>
        <p:nvSpPr>
          <p:cNvPr id="7" name="loop-n1-t"/>
          <p:cNvSpPr txBox="1"/>
          <p:nvPr/>
        </p:nvSpPr>
        <p:spPr>
          <a:xfrm>
            <a:off x="1549400" y="2133600"/>
            <a:ext cx="28702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① 预测（点 1）</a:t>
            </a:r>
            <a:endParaRPr lang="en-US" sz="1600" noProof="1"/>
          </a:p>
          <a:p>
            <a:pPr algn="l">
              <a:lnSpc>
                <a:spcPct val="130000"/>
              </a:lnSpc>
            </a:pPr>
            <a:r>
              <a:rPr lang="en-US" sz="1050" noProof="1">
                <a:solidFill>
                  <a:srgbClr val="000000"/>
                </a:solidFill>
                <a:latin typeface="MiSans"/>
                <a:ea typeface="MiSans"/>
              </a:rPr>
              <a:t>推理长度 · TTFT · 端到端时延 P50 / P95</a:t>
            </a:r>
            <a:endParaRPr lang="en-US" sz="1600" noProof="1"/>
          </a:p>
        </p:txBody>
      </p:sp>
      <p:sp>
        <p:nvSpPr>
          <p:cNvPr id="8" name="loop-n2"/>
          <p:cNvSpPr/>
          <p:nvPr/>
        </p:nvSpPr>
        <p:spPr>
          <a:xfrm>
            <a:off x="7620000" y="2032000"/>
            <a:ext cx="3175000" cy="838200"/>
          </a:xfrm>
          <a:prstGeom prst="roundRect">
            <a:avLst>
              <a:gd name="adj" fmla="val 12000"/>
            </a:avLst>
          </a:prstGeom>
          <a:solidFill>
            <a:srgbClr val="E4EEE9"/>
          </a:solidFill>
          <a:ln w="12700">
            <a:solidFill>
              <a:srgbClr val="155E52"/>
            </a:solidFill>
          </a:ln>
        </p:spPr>
      </p:sp>
      <p:sp>
        <p:nvSpPr>
          <p:cNvPr id="9" name="loop-n2-t"/>
          <p:cNvSpPr txBox="1"/>
          <p:nvPr/>
        </p:nvSpPr>
        <p:spPr>
          <a:xfrm>
            <a:off x="7772400" y="2133600"/>
            <a:ext cx="28702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② 联合配置（点 2）</a:t>
            </a:r>
            <a:endParaRPr lang="en-US" sz="1600" noProof="1"/>
          </a:p>
          <a:p>
            <a:pPr algn="l">
              <a:lnSpc>
                <a:spcPct val="130000"/>
              </a:lnSpc>
            </a:pPr>
            <a:r>
              <a:rPr lang="en-US" sz="1050" noProof="1">
                <a:solidFill>
                  <a:srgbClr val="000000"/>
                </a:solidFill>
                <a:latin typeface="MiSans"/>
                <a:ea typeface="MiSans"/>
              </a:rPr>
              <a:t>缓存容量 S · 并行度 p · 批次 b · 短路阈值</a:t>
            </a:r>
            <a:endParaRPr lang="en-US" sz="1600" noProof="1"/>
          </a:p>
        </p:txBody>
      </p:sp>
      <p:sp>
        <p:nvSpPr>
          <p:cNvPr id="10" name="loop-n3"/>
          <p:cNvSpPr/>
          <p:nvPr/>
        </p:nvSpPr>
        <p:spPr>
          <a:xfrm>
            <a:off x="7620000" y="4191000"/>
            <a:ext cx="3175000" cy="838200"/>
          </a:xfrm>
          <a:prstGeom prst="roundRect">
            <a:avLst>
              <a:gd name="adj" fmla="val 12000"/>
            </a:avLst>
          </a:prstGeom>
          <a:solidFill>
            <a:srgbClr val="E4EEE9"/>
          </a:solidFill>
          <a:ln w="12700">
            <a:solidFill>
              <a:srgbClr val="155E52"/>
            </a:solidFill>
          </a:ln>
        </p:spPr>
      </p:sp>
      <p:sp>
        <p:nvSpPr>
          <p:cNvPr id="11" name="loop-n3-t"/>
          <p:cNvSpPr txBox="1"/>
          <p:nvPr/>
        </p:nvSpPr>
        <p:spPr>
          <a:xfrm>
            <a:off x="7772400" y="4292600"/>
            <a:ext cx="28702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③ 短路与状态维护（点 2 / 3）</a:t>
            </a:r>
            <a:endParaRPr lang="en-US" sz="1600" noProof="1"/>
          </a:p>
          <a:p>
            <a:pPr algn="l">
              <a:lnSpc>
                <a:spcPct val="130000"/>
              </a:lnSpc>
            </a:pPr>
            <a:r>
              <a:rPr lang="en-US" sz="1050" noProof="1">
                <a:solidFill>
                  <a:srgbClr val="000000"/>
                </a:solidFill>
                <a:latin typeface="MiSans"/>
                <a:ea typeface="MiSans"/>
              </a:rPr>
              <a:t>命中短路 · 缓存项替换 · 会话亲和路由</a:t>
            </a:r>
            <a:endParaRPr lang="en-US" sz="1600" noProof="1"/>
          </a:p>
        </p:txBody>
      </p:sp>
      <p:sp>
        <p:nvSpPr>
          <p:cNvPr id="12" name="loop-n4"/>
          <p:cNvSpPr/>
          <p:nvPr/>
        </p:nvSpPr>
        <p:spPr>
          <a:xfrm>
            <a:off x="1397000" y="4191000"/>
            <a:ext cx="3175000" cy="838200"/>
          </a:xfrm>
          <a:prstGeom prst="roundRect">
            <a:avLst>
              <a:gd name="adj" fmla="val 12000"/>
            </a:avLst>
          </a:prstGeom>
          <a:solidFill>
            <a:srgbClr val="E4EEE9"/>
          </a:solidFill>
          <a:ln w="12700">
            <a:solidFill>
              <a:srgbClr val="155E52"/>
            </a:solidFill>
          </a:ln>
        </p:spPr>
      </p:sp>
      <p:sp>
        <p:nvSpPr>
          <p:cNvPr id="13" name="loop-n4-t"/>
          <p:cNvSpPr txBox="1"/>
          <p:nvPr/>
        </p:nvSpPr>
        <p:spPr>
          <a:xfrm>
            <a:off x="1549400" y="4292600"/>
            <a:ext cx="28702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④ 观测回注</a:t>
            </a:r>
            <a:endParaRPr lang="en-US" sz="1600" noProof="1"/>
          </a:p>
          <a:p>
            <a:pPr algn="l">
              <a:lnSpc>
                <a:spcPct val="130000"/>
              </a:lnSpc>
            </a:pPr>
            <a:r>
              <a:rPr lang="en-US" sz="1050" noProof="1">
                <a:solidFill>
                  <a:srgbClr val="000000"/>
                </a:solidFill>
                <a:latin typeface="MiSans"/>
                <a:ea typeface="MiSans"/>
              </a:rPr>
              <a:t>命中率 · 错误率 · 端到端时延 → 在线校准</a:t>
            </a:r>
            <a:endParaRPr lang="en-US" sz="1600" noProof="1"/>
          </a:p>
        </p:txBody>
      </p:sp>
      <p:sp>
        <p:nvSpPr>
          <p:cNvPr id="14" name="loop-arr1"/>
          <p:cNvSpPr/>
          <p:nvPr>
            <p:extLst>
              <p:ext uri="{F5677B7D-0D2A-4D9B-9A5C-6D8D7D0E5A5D}">
                <pptd:line encoding="base64url">eyJ2aWV3Qm94IjpbMjI4LDEwXSwicG9pbnRzIjoiMCw1IDIyOCw1In0</pptd:line>
              </p:ext>
            </p:extLst>
          </p:nvPr>
        </p:nvSpPr>
        <p:spPr>
          <a:xfrm>
            <a:off x="4648200" y="2387600"/>
            <a:ext cx="2895600" cy="127000"/>
          </a:xfrm>
          <a:custGeom>
            <a:avLst/>
            <a:gdLst/>
            <a:ahLst/>
            <a:cxnLst/>
            <a:rect l="l" t="t" r="r" b="b"/>
            <a:pathLst>
              <a:path w="228" h="10">
                <a:moveTo>
                  <a:pt x="0" y="5"/>
                </a:moveTo>
                <a:lnTo>
                  <a:pt x="228" y="5"/>
                </a:lnTo>
              </a:path>
            </a:pathLst>
          </a:custGeom>
          <a:noFill/>
          <a:ln w="19050" cap="rnd">
            <a:solidFill>
              <a:srgbClr val="155E52"/>
            </a:solidFill>
            <a:round/>
            <a:tailEnd type="stealth"/>
          </a:ln>
        </p:spPr>
      </p:sp>
      <p:sp>
        <p:nvSpPr>
          <p:cNvPr id="15" name="loop-arr2"/>
          <p:cNvSpPr/>
          <p:nvPr>
            <p:extLst>
              <p:ext uri="{F5677B7D-0D2A-4D9B-9A5C-6D8D7D0E5A5D}">
                <pptd:line encoding="base64url">eyJ2aWV3Qm94IjpbMTAsOTJdLCJwb2ludHMiOiI1LDAgNSw5MiJ9</pptd:line>
              </p:ext>
            </p:extLst>
          </p:nvPr>
        </p:nvSpPr>
        <p:spPr>
          <a:xfrm>
            <a:off x="9144000" y="2946400"/>
            <a:ext cx="127000" cy="1168400"/>
          </a:xfrm>
          <a:custGeom>
            <a:avLst/>
            <a:gdLst/>
            <a:ahLst/>
            <a:cxnLst/>
            <a:rect l="l" t="t" r="r" b="b"/>
            <a:pathLst>
              <a:path w="10" h="92">
                <a:moveTo>
                  <a:pt x="5" y="0"/>
                </a:moveTo>
                <a:lnTo>
                  <a:pt x="5" y="92"/>
                </a:lnTo>
              </a:path>
            </a:pathLst>
          </a:custGeom>
          <a:noFill/>
          <a:ln w="19050" cap="rnd">
            <a:solidFill>
              <a:srgbClr val="155E52"/>
            </a:solidFill>
            <a:round/>
            <a:tailEnd type="stealth"/>
          </a:ln>
        </p:spPr>
      </p:sp>
      <p:sp>
        <p:nvSpPr>
          <p:cNvPr id="16" name="loop-arr3"/>
          <p:cNvSpPr/>
          <p:nvPr>
            <p:extLst>
              <p:ext uri="{F5677B7D-0D2A-4D9B-9A5C-6D8D7D0E5A5D}">
                <pptd:line encoding="base64url">eyJ2aWV3Qm94IjpbMjI4LDEwXSwicG9pbnRzIjoiMjI4LDUgMCw1In0</pptd:line>
              </p:ext>
            </p:extLst>
          </p:nvPr>
        </p:nvSpPr>
        <p:spPr>
          <a:xfrm>
            <a:off x="4648200" y="4546600"/>
            <a:ext cx="2895600" cy="127000"/>
          </a:xfrm>
          <a:custGeom>
            <a:avLst/>
            <a:gdLst/>
            <a:ahLst/>
            <a:cxnLst/>
            <a:rect l="l" t="t" r="r" b="b"/>
            <a:pathLst>
              <a:path w="228" h="10">
                <a:moveTo>
                  <a:pt x="228" y="5"/>
                </a:moveTo>
                <a:lnTo>
                  <a:pt x="0" y="5"/>
                </a:lnTo>
              </a:path>
            </a:pathLst>
          </a:custGeom>
          <a:noFill/>
          <a:ln w="19050" cap="rnd">
            <a:solidFill>
              <a:srgbClr val="155E52"/>
            </a:solidFill>
            <a:round/>
            <a:tailEnd type="stealth"/>
          </a:ln>
        </p:spPr>
      </p:sp>
      <p:sp>
        <p:nvSpPr>
          <p:cNvPr id="17" name="loop-arr4"/>
          <p:cNvSpPr/>
          <p:nvPr>
            <p:extLst>
              <p:ext uri="{F5677B7D-0D2A-4D9B-9A5C-6D8D7D0E5A5D}">
                <pptd:line encoding="base64url">eyJ2aWV3Qm94IjpbMTAsOTJdLCJwb2ludHMiOiI1LDkyIDUsMCJ9</pptd:line>
              </p:ext>
            </p:extLst>
          </p:nvPr>
        </p:nvSpPr>
        <p:spPr>
          <a:xfrm>
            <a:off x="2921000" y="2946400"/>
            <a:ext cx="127000" cy="1168400"/>
          </a:xfrm>
          <a:custGeom>
            <a:avLst/>
            <a:gdLst/>
            <a:ahLst/>
            <a:cxnLst/>
            <a:rect l="l" t="t" r="r" b="b"/>
            <a:pathLst>
              <a:path w="10" h="92">
                <a:moveTo>
                  <a:pt x="5" y="92"/>
                </a:moveTo>
                <a:lnTo>
                  <a:pt x="5" y="0"/>
                </a:lnTo>
              </a:path>
            </a:pathLst>
          </a:custGeom>
          <a:noFill/>
          <a:ln w="19050" cap="rnd">
            <a:solidFill>
              <a:srgbClr val="155E52"/>
            </a:solidFill>
            <a:round/>
            <a:tailEnd type="stealth"/>
          </a:ln>
        </p:spPr>
      </p:sp>
      <p:sp>
        <p:nvSpPr>
          <p:cNvPr id="18" name="loop-center"/>
          <p:cNvSpPr txBox="1"/>
          <p:nvPr/>
        </p:nvSpPr>
        <p:spPr>
          <a:xfrm>
            <a:off x="4191000" y="2997200"/>
            <a:ext cx="3810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55000"/>
              </a:lnSpc>
            </a:pPr>
            <a:r>
              <a:rPr lang="en-US" sz="1450" noProof="1" b="1">
                <a:solidFill>
                  <a:srgbClr val="23292E"/>
                </a:solidFill>
                <a:latin typeface="MiSans"/>
                <a:ea typeface="MiSans"/>
              </a:rPr>
              <a:t>目标：时延 SLO 与错误率预算双约束下，用最小的缓存容量与推理资源，服务动态负载</a:t>
            </a:r>
            <a:endParaRPr lang="en-US" sz="1450" noProof="1"/>
          </a:p>
        </p:txBody>
      </p:sp>
      <p:sp>
        <p:nvSpPr>
          <p:cNvPr id="19" name="loop-note"/>
          <p:cNvSpPr txBox="1"/>
          <p:nvPr/>
        </p:nvSpPr>
        <p:spPr>
          <a:xfrm>
            <a:off x="711200" y="57150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5F6B72"/>
                </a:solidFill>
                <a:latin typeface="MiSans"/>
                <a:ea typeface="MiSans"/>
              </a:rPr>
              <a:t>闭环链：点 1 输出预测 → 点 2 据预测与观测做联合配置 → 点 3 在给定配置下执行 → 运行观测回注点 1，在线校准。</a:t>
            </a:r>
            <a:endParaRPr lang="en-US" sz="1100" noProof="1"/>
          </a:p>
        </p:txBody>
      </p:sp>
      <p:sp>
        <p:nvSpPr>
          <p:cNvPr id="20" name="footer-left"/>
          <p:cNvSpPr txBox="1"/>
          <p:nvPr/>
        </p:nvSpPr>
        <p:spPr>
          <a:xfrm>
            <a:off x="711200" y="6502400"/>
            <a:ext cx="762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毕业设计初版方案 · 面向 SLO 的知识库缓存动态优化的流式 Agent 推理系统</a:t>
            </a:r>
            <a:endParaRPr lang="en-US" sz="900" noProof="1"/>
          </a:p>
        </p:txBody>
      </p:sp>
      <p:sp>
        <p:nvSpPr>
          <p:cNvPr id="21" name="footer-right"/>
          <p:cNvSpPr txBox="1"/>
          <p:nvPr/>
        </p:nvSpPr>
        <p:spPr>
          <a:xfrm>
            <a:off x="10871200" y="65024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07 / 17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55E52"/>
                </a:solidFill>
                <a:latin typeface="MiSans"/>
                <a:ea typeface="MiSans"/>
              </a:rPr>
              <a:t>03 · 研究框架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3292E"/>
                </a:solidFill>
                <a:latin typeface="MiSans"/>
                <a:ea typeface="MiSans"/>
              </a:rPr>
              <a:t>整体框架：管线零改动，只升级一个算子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711200" y="1168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5" name="upgrade-note"/>
          <p:cNvSpPr/>
          <p:nvPr/>
        </p:nvSpPr>
        <p:spPr>
          <a:xfrm>
            <a:off x="2616200" y="1524000"/>
            <a:ext cx="23368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5E52"/>
            </a:solidFill>
            <a:prstDash val="dash"/>
          </a:ln>
        </p:spPr>
      </p:sp>
      <p:sp>
        <p:nvSpPr>
          <p:cNvPr id="6" name="upgrade-note-t"/>
          <p:cNvSpPr txBox="1"/>
          <p:nvPr/>
        </p:nvSpPr>
        <p:spPr>
          <a:xfrm>
            <a:off x="2692400" y="1574800"/>
            <a:ext cx="2184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950" noProof="1">
                <a:solidFill>
                  <a:srgbClr val="155E52"/>
                </a:solidFill>
                <a:latin typeface="MiSans"/>
                <a:ea typeface="MiSans"/>
              </a:rPr>
              <a:t>StateFetcher 升级为「语义记忆算子」：embedding 索引 ＋ 语义检索</a:t>
            </a:r>
            <a:endParaRPr lang="en-US" sz="950" noProof="1"/>
          </a:p>
        </p:txBody>
      </p:sp>
      <p:sp>
        <p:nvSpPr>
          <p:cNvPr id="7" name="upgrade-link"/>
          <p:cNvSpPr/>
          <p:nvPr>
            <p:extLst>
              <p:ext uri="{F5677B7D-0D2A-4D9B-9A5C-6D8D7D0E5A5D}">
                <pptd:line encoding="base64url">eyJ2aWV3Qm94IjpbMiw1MF0sInBvaW50cyI6IjEsMCAxLDUwIn0</pptd:line>
              </p:ext>
            </p:extLst>
          </p:nvPr>
        </p:nvSpPr>
        <p:spPr>
          <a:xfrm>
            <a:off x="3771900" y="2057400"/>
            <a:ext cx="25400" cy="635000"/>
          </a:xfrm>
          <a:custGeom>
            <a:avLst/>
            <a:gdLst/>
            <a:ahLst/>
            <a:cxnLst/>
            <a:rect l="l" t="t" r="r" b="b"/>
            <a:pathLst>
              <a:path w="2" h="50">
                <a:moveTo>
                  <a:pt x="1" y="0"/>
                </a:moveTo>
                <a:lnTo>
                  <a:pt x="1" y="50"/>
                </a:lnTo>
              </a:path>
            </a:pathLst>
          </a:custGeom>
          <a:noFill/>
          <a:ln w="12700" cap="rnd">
            <a:solidFill>
              <a:srgbClr val="155E52"/>
            </a:solidFill>
            <a:prstDash val="dash"/>
            <a:round/>
          </a:ln>
        </p:spPr>
      </p:sp>
      <p:sp>
        <p:nvSpPr>
          <p:cNvPr id="8" name="ctrl-box"/>
          <p:cNvSpPr/>
          <p:nvPr/>
        </p:nvSpPr>
        <p:spPr>
          <a:xfrm>
            <a:off x="7747000" y="1498600"/>
            <a:ext cx="3225800" cy="660400"/>
          </a:xfrm>
          <a:prstGeom prst="rect">
            <a:avLst/>
          </a:prstGeom>
          <a:solidFill>
            <a:srgbClr val="E4EEE9"/>
          </a:solidFill>
          <a:ln w="12700">
            <a:solidFill>
              <a:srgbClr val="155E52"/>
            </a:solidFill>
          </a:ln>
        </p:spPr>
      </p:sp>
      <p:sp>
        <p:nvSpPr>
          <p:cNvPr id="9" name="ctrl-box-t"/>
          <p:cNvSpPr txBox="1"/>
          <p:nvPr/>
        </p:nvSpPr>
        <p:spPr>
          <a:xfrm>
            <a:off x="7848600" y="1549400"/>
            <a:ext cx="3022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0000"/>
              </a:lnSpc>
            </a:pPr>
            <a:r>
              <a:rPr lang="en-US" sz="1150" noProof="1" b="1">
                <a:solidFill>
                  <a:srgbClr val="000000"/>
                </a:solidFill>
                <a:latin typeface="MiSans"/>
                <a:ea typeface="MiSans"/>
              </a:rPr>
              <a:t>SLO 控制器（点 2）</a:t>
            </a:r>
            <a:endParaRPr lang="en-US" sz="1600" noProof="1"/>
          </a:p>
          <a:p>
            <a:pPr algn="l">
              <a:lnSpc>
                <a:spcPct val="130000"/>
              </a:lnSpc>
            </a:pPr>
            <a:r>
              <a:rPr lang="en-US" sz="950" noProof="1">
                <a:solidFill>
                  <a:srgbClr val="000000"/>
                </a:solidFill>
                <a:latin typeface="MiSans"/>
                <a:ea typeface="MiSans"/>
              </a:rPr>
              <a:t>调优：容量 S · 并行度 p · 批次 b · 短路阈值</a:t>
            </a:r>
            <a:endParaRPr lang="en-US" sz="1600" noProof="1"/>
          </a:p>
        </p:txBody>
      </p:sp>
      <p:sp>
        <p:nvSpPr>
          <p:cNvPr id="10" name="ctrl-to-sf"/>
          <p:cNvSpPr/>
          <p:nvPr>
            <p:extLst>
              <p:ext uri="{F5677B7D-0D2A-4D9B-9A5C-6D8D7D0E5A5D}">
                <pptd:line encoding="base64url">eyJ2aWV3Qm94IjpbMzEyLDQ4XSwicG9pbnRzIjoiMzEyLDAgMCw0OCIsImN1cnZlIjoic2hhcnAifQ</pptd:line>
              </p:ext>
            </p:extLst>
          </p:nvPr>
        </p:nvSpPr>
        <p:spPr>
          <a:xfrm>
            <a:off x="3784600" y="2057400"/>
            <a:ext cx="3962400" cy="609600"/>
          </a:xfrm>
          <a:custGeom>
            <a:avLst/>
            <a:gdLst/>
            <a:ahLst/>
            <a:cxnLst/>
            <a:rect l="l" t="t" r="r" b="b"/>
            <a:pathLst>
              <a:path w="312" h="48">
                <a:moveTo>
                  <a:pt x="312" y="0"/>
                </a:moveTo>
                <a:lnTo>
                  <a:pt x="0" y="48"/>
                </a:lnTo>
              </a:path>
            </a:pathLst>
          </a:custGeom>
          <a:noFill/>
          <a:ln w="15240">
            <a:solidFill>
              <a:srgbClr val="155E52"/>
            </a:solidFill>
            <a:prstDash val="dash"/>
            <a:tailEnd type="stealth"/>
          </a:ln>
        </p:spPr>
      </p:sp>
      <p:sp>
        <p:nvSpPr>
          <p:cNvPr id="11" name="ctrl-to-inf"/>
          <p:cNvSpPr/>
          <p:nvPr>
            <p:extLst>
              <p:ext uri="{F5677B7D-0D2A-4D9B-9A5C-6D8D7D0E5A5D}">
                <pptd:line encoding="base64url">eyJ2aWV3Qm94IjpbNzYsNDBdLCJwb2ludHMiOiI3NiwwIDAsNDAiLCJjdXJ2ZSI6InNoYXJwIn0</pptd:line>
              </p:ext>
            </p:extLst>
          </p:nvPr>
        </p:nvSpPr>
        <p:spPr>
          <a:xfrm>
            <a:off x="8305800" y="2184400"/>
            <a:ext cx="965200" cy="508000"/>
          </a:xfrm>
          <a:custGeom>
            <a:avLst/>
            <a:gdLst/>
            <a:ahLst/>
            <a:cxnLst/>
            <a:rect l="l" t="t" r="r" b="b"/>
            <a:pathLst>
              <a:path w="76" h="40">
                <a:moveTo>
                  <a:pt x="76" y="0"/>
                </a:moveTo>
                <a:lnTo>
                  <a:pt x="0" y="40"/>
                </a:lnTo>
              </a:path>
            </a:pathLst>
          </a:custGeom>
          <a:noFill/>
          <a:ln w="15240">
            <a:solidFill>
              <a:srgbClr val="155E52"/>
            </a:solidFill>
            <a:prstDash val="dash"/>
            <a:tailEnd type="stealth"/>
          </a:ln>
        </p:spPr>
      </p:sp>
      <p:sp>
        <p:nvSpPr>
          <p:cNvPr id="12" name="pipe-source"/>
          <p:cNvSpPr/>
          <p:nvPr/>
        </p:nvSpPr>
        <p:spPr>
          <a:xfrm>
            <a:off x="711200" y="2717800"/>
            <a:ext cx="1397000" cy="609600"/>
          </a:xfrm>
          <a:prstGeom prst="roundRect">
            <a:avLst>
              <a:gd name="adj" fmla="val 12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13" name="pipe-source-t"/>
          <p:cNvSpPr txBox="1"/>
          <p:nvPr/>
        </p:nvSpPr>
        <p:spPr>
          <a:xfrm>
            <a:off x="711200" y="2717800"/>
            <a:ext cx="1397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23292E"/>
                </a:solidFill>
                <a:latin typeface="MiSans"/>
                <a:ea typeface="MiSans"/>
              </a:rPr>
              <a:t>Source</a:t>
            </a:r>
            <a:endParaRPr lang="en-US" sz="1200" noProof="1"/>
          </a:p>
        </p:txBody>
      </p:sp>
      <p:sp>
        <p:nvSpPr>
          <p:cNvPr id="14" name="pipe-a1"/>
          <p:cNvSpPr/>
          <p:nvPr>
            <p:extLst>
              <p:ext uri="{F5677B7D-0D2A-4D9B-9A5C-6D8D7D0E5A5D}">
                <pptd:line encoding="base64url">eyJ2aWV3Qm94IjpbNDQsOF0sInBvaW50cyI6IjAsNCA0NCw0In0</pptd:line>
              </p:ext>
            </p:extLst>
          </p:nvPr>
        </p:nvSpPr>
        <p:spPr>
          <a:xfrm>
            <a:off x="2159000" y="2971800"/>
            <a:ext cx="558800" cy="101600"/>
          </a:xfrm>
          <a:custGeom>
            <a:avLst/>
            <a:gdLst/>
            <a:ahLst/>
            <a:cxnLst/>
            <a:rect l="l" t="t" r="r" b="b"/>
            <a:pathLst>
              <a:path w="44" h="8">
                <a:moveTo>
                  <a:pt x="0" y="4"/>
                </a:moveTo>
                <a:lnTo>
                  <a:pt x="44" y="4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15" name="pipe-sf"/>
          <p:cNvSpPr/>
          <p:nvPr/>
        </p:nvSpPr>
        <p:spPr>
          <a:xfrm>
            <a:off x="2768600" y="2717800"/>
            <a:ext cx="2032000" cy="609600"/>
          </a:xfrm>
          <a:prstGeom prst="roundRect">
            <a:avLst>
              <a:gd name="adj" fmla="val 12000"/>
            </a:avLst>
          </a:prstGeom>
          <a:solidFill>
            <a:srgbClr val="155E52"/>
          </a:solidFill>
          <a:ln>
            <a:noFill/>
          </a:ln>
        </p:spPr>
      </p:sp>
      <p:sp>
        <p:nvSpPr>
          <p:cNvPr id="16" name="pipe-sf-t"/>
          <p:cNvSpPr txBox="1"/>
          <p:nvPr/>
        </p:nvSpPr>
        <p:spPr>
          <a:xfrm>
            <a:off x="2768600" y="2717800"/>
            <a:ext cx="2032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语义记忆算子（原 StateFetcher）</a:t>
            </a:r>
            <a:endParaRPr lang="en-US" sz="1200" noProof="1"/>
          </a:p>
        </p:txBody>
      </p:sp>
      <p:sp>
        <p:nvSpPr>
          <p:cNvPr id="17" name="pipe-a2"/>
          <p:cNvSpPr/>
          <p:nvPr>
            <p:extLst>
              <p:ext uri="{F5677B7D-0D2A-4D9B-9A5C-6D8D7D0E5A5D}">
                <pptd:line encoding="base64url">eyJ2aWV3Qm94IjpbNDQsOF0sInBvaW50cyI6IjAsNCA0NCw0In0</pptd:line>
              </p:ext>
            </p:extLst>
          </p:nvPr>
        </p:nvSpPr>
        <p:spPr>
          <a:xfrm>
            <a:off x="4851400" y="2971800"/>
            <a:ext cx="558800" cy="101600"/>
          </a:xfrm>
          <a:custGeom>
            <a:avLst/>
            <a:gdLst/>
            <a:ahLst/>
            <a:cxnLst/>
            <a:rect l="l" t="t" r="r" b="b"/>
            <a:pathLst>
              <a:path w="44" h="8">
                <a:moveTo>
                  <a:pt x="0" y="4"/>
                </a:moveTo>
                <a:lnTo>
                  <a:pt x="44" y="4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18" name="pipe-batcher"/>
          <p:cNvSpPr/>
          <p:nvPr/>
        </p:nvSpPr>
        <p:spPr>
          <a:xfrm>
            <a:off x="5461000" y="2717800"/>
            <a:ext cx="1397000" cy="609600"/>
          </a:xfrm>
          <a:prstGeom prst="roundRect">
            <a:avLst>
              <a:gd name="adj" fmla="val 12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19" name="pipe-batcher-t"/>
          <p:cNvSpPr txBox="1"/>
          <p:nvPr/>
        </p:nvSpPr>
        <p:spPr>
          <a:xfrm>
            <a:off x="5461000" y="2717800"/>
            <a:ext cx="1397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23292E"/>
                </a:solidFill>
                <a:latin typeface="MiSans"/>
                <a:ea typeface="MiSans"/>
              </a:rPr>
              <a:t>Batcher</a:t>
            </a:r>
            <a:endParaRPr lang="en-US" sz="1200" noProof="1"/>
          </a:p>
        </p:txBody>
      </p:sp>
      <p:sp>
        <p:nvSpPr>
          <p:cNvPr id="20" name="pipe-a3"/>
          <p:cNvSpPr/>
          <p:nvPr>
            <p:extLst>
              <p:ext uri="{F5677B7D-0D2A-4D9B-9A5C-6D8D7D0E5A5D}">
                <pptd:line encoding="base64url">eyJ2aWV3Qm94IjpbNDQsOF0sInBvaW50cyI6IjAsNCA0NCw0In0</pptd:line>
              </p:ext>
            </p:extLst>
          </p:nvPr>
        </p:nvSpPr>
        <p:spPr>
          <a:xfrm>
            <a:off x="6908800" y="2971800"/>
            <a:ext cx="558800" cy="101600"/>
          </a:xfrm>
          <a:custGeom>
            <a:avLst/>
            <a:gdLst/>
            <a:ahLst/>
            <a:cxnLst/>
            <a:rect l="l" t="t" r="r" b="b"/>
            <a:pathLst>
              <a:path w="44" h="8">
                <a:moveTo>
                  <a:pt x="0" y="4"/>
                </a:moveTo>
                <a:lnTo>
                  <a:pt x="44" y="4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21" name="pipe-inferencer"/>
          <p:cNvSpPr/>
          <p:nvPr/>
        </p:nvSpPr>
        <p:spPr>
          <a:xfrm>
            <a:off x="7518400" y="2717800"/>
            <a:ext cx="1524000" cy="609600"/>
          </a:xfrm>
          <a:prstGeom prst="roundRect">
            <a:avLst>
              <a:gd name="adj" fmla="val 12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22" name="pipe-inferencer-t"/>
          <p:cNvSpPr txBox="1"/>
          <p:nvPr/>
        </p:nvSpPr>
        <p:spPr>
          <a:xfrm>
            <a:off x="7518400" y="2717800"/>
            <a:ext cx="152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23292E"/>
                </a:solidFill>
                <a:latin typeface="MiSans"/>
                <a:ea typeface="MiSans"/>
              </a:rPr>
              <a:t>Inferencer</a:t>
            </a:r>
            <a:endParaRPr lang="en-US" sz="1200" noProof="1"/>
          </a:p>
        </p:txBody>
      </p:sp>
      <p:sp>
        <p:nvSpPr>
          <p:cNvPr id="23" name="pipe-a4"/>
          <p:cNvSpPr/>
          <p:nvPr>
            <p:extLst>
              <p:ext uri="{F5677B7D-0D2A-4D9B-9A5C-6D8D7D0E5A5D}">
                <pptd:line encoding="base64url">eyJ2aWV3Qm94IjpbNDQsOF0sInBvaW50cyI6IjAsNCA0NCw0In0</pptd:line>
              </p:ext>
            </p:extLst>
          </p:nvPr>
        </p:nvSpPr>
        <p:spPr>
          <a:xfrm>
            <a:off x="9093200" y="2971800"/>
            <a:ext cx="558800" cy="101600"/>
          </a:xfrm>
          <a:custGeom>
            <a:avLst/>
            <a:gdLst/>
            <a:ahLst/>
            <a:cxnLst/>
            <a:rect l="l" t="t" r="r" b="b"/>
            <a:pathLst>
              <a:path w="44" h="8">
                <a:moveTo>
                  <a:pt x="0" y="4"/>
                </a:moveTo>
                <a:lnTo>
                  <a:pt x="44" y="4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24" name="pipe-sink"/>
          <p:cNvSpPr/>
          <p:nvPr/>
        </p:nvSpPr>
        <p:spPr>
          <a:xfrm>
            <a:off x="9702800" y="2717800"/>
            <a:ext cx="1270000" cy="609600"/>
          </a:xfrm>
          <a:prstGeom prst="roundRect">
            <a:avLst>
              <a:gd name="adj" fmla="val 12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25" name="pipe-sink-t"/>
          <p:cNvSpPr txBox="1"/>
          <p:nvPr/>
        </p:nvSpPr>
        <p:spPr>
          <a:xfrm>
            <a:off x="9702800" y="2717800"/>
            <a:ext cx="127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23292E"/>
                </a:solidFill>
                <a:latin typeface="MiSans"/>
                <a:ea typeface="MiSans"/>
              </a:rPr>
              <a:t>Sink</a:t>
            </a:r>
            <a:endParaRPr lang="en-US" sz="1200" noProof="1"/>
          </a:p>
        </p:txBody>
      </p:sp>
      <p:sp>
        <p:nvSpPr>
          <p:cNvPr id="26" name="miss-label"/>
          <p:cNvSpPr txBox="1"/>
          <p:nvPr/>
        </p:nvSpPr>
        <p:spPr>
          <a:xfrm>
            <a:off x="5461000" y="3403600"/>
            <a:ext cx="304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9AA5A1"/>
                </a:solidFill>
                <a:latin typeface="MiSans"/>
                <a:ea typeface="MiSans"/>
              </a:rPr>
              <a:t>未命中 → 走完整推理路径</a:t>
            </a:r>
            <a:endParaRPr lang="en-US" sz="950" noProof="1"/>
          </a:p>
        </p:txBody>
      </p:sp>
      <p:sp>
        <p:nvSpPr>
          <p:cNvPr id="27" name="shortcut-v1"/>
          <p:cNvSpPr/>
          <p:nvPr>
            <p:extLst>
              <p:ext uri="{F5677B7D-0D2A-4D9B-9A5C-6D8D7D0E5A5D}">
                <pptd:line encoding="base64url">eyJ2aWV3Qm94IjpbNCw1Ml0sInBvaW50cyI6IjIsMCAyLDUyIn0</pptd:line>
              </p:ext>
            </p:extLst>
          </p:nvPr>
        </p:nvSpPr>
        <p:spPr>
          <a:xfrm>
            <a:off x="3759200" y="33528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4" h="52">
                <a:moveTo>
                  <a:pt x="2" y="0"/>
                </a:moveTo>
                <a:lnTo>
                  <a:pt x="2" y="52"/>
                </a:lnTo>
              </a:path>
            </a:pathLst>
          </a:custGeom>
          <a:noFill/>
          <a:ln w="17780" cap="rnd">
            <a:solidFill>
              <a:srgbClr val="155E52"/>
            </a:solidFill>
            <a:prstDash val="dash"/>
            <a:round/>
          </a:ln>
        </p:spPr>
      </p:sp>
      <p:sp>
        <p:nvSpPr>
          <p:cNvPr id="28" name="shortcut-h"/>
          <p:cNvSpPr/>
          <p:nvPr>
            <p:extLst>
              <p:ext uri="{F5677B7D-0D2A-4D9B-9A5C-6D8D7D0E5A5D}">
                <pptd:line encoding="base64url">eyJ2aWV3Qm94IjpbNTE4LDRdLCJwb2ludHMiOiIwLDIgNTE4LDIifQ</pptd:line>
              </p:ext>
            </p:extLst>
          </p:nvPr>
        </p:nvSpPr>
        <p:spPr>
          <a:xfrm>
            <a:off x="3759200" y="3987800"/>
            <a:ext cx="6578600" cy="50800"/>
          </a:xfrm>
          <a:custGeom>
            <a:avLst/>
            <a:gdLst/>
            <a:ahLst/>
            <a:cxnLst/>
            <a:rect l="l" t="t" r="r" b="b"/>
            <a:pathLst>
              <a:path w="518" h="4">
                <a:moveTo>
                  <a:pt x="0" y="2"/>
                </a:moveTo>
                <a:lnTo>
                  <a:pt x="518" y="2"/>
                </a:lnTo>
              </a:path>
            </a:pathLst>
          </a:custGeom>
          <a:noFill/>
          <a:ln w="17780" cap="rnd">
            <a:solidFill>
              <a:srgbClr val="155E52"/>
            </a:solidFill>
            <a:prstDash val="dash"/>
            <a:round/>
          </a:ln>
        </p:spPr>
      </p:sp>
      <p:sp>
        <p:nvSpPr>
          <p:cNvPr id="29" name="shortcut-v2"/>
          <p:cNvSpPr/>
          <p:nvPr>
            <p:extLst>
              <p:ext uri="{F5677B7D-0D2A-4D9B-9A5C-6D8D7D0E5A5D}">
                <pptd:line encoding="base64url">eyJ2aWV3Qm94IjpbNCw1Ml0sInBvaW50cyI6IjIsNTIgMiwwIn0</pptd:line>
              </p:ext>
            </p:extLst>
          </p:nvPr>
        </p:nvSpPr>
        <p:spPr>
          <a:xfrm>
            <a:off x="10312400" y="33528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4" h="52">
                <a:moveTo>
                  <a:pt x="2" y="52"/>
                </a:moveTo>
                <a:lnTo>
                  <a:pt x="2" y="0"/>
                </a:lnTo>
              </a:path>
            </a:pathLst>
          </a:custGeom>
          <a:noFill/>
          <a:ln w="17780" cap="rnd">
            <a:solidFill>
              <a:srgbClr val="155E52"/>
            </a:solidFill>
            <a:prstDash val="dash"/>
            <a:round/>
            <a:tailEnd type="stealth"/>
          </a:ln>
        </p:spPr>
      </p:sp>
      <p:sp>
        <p:nvSpPr>
          <p:cNvPr id="30" name="shortcut-label"/>
          <p:cNvSpPr txBox="1"/>
          <p:nvPr/>
        </p:nvSpPr>
        <p:spPr>
          <a:xfrm>
            <a:off x="5080000" y="4089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155E52"/>
                </a:solidFill>
                <a:latin typeface="MiSans"/>
                <a:ea typeface="MiSans"/>
              </a:rPr>
              <a:t>语义命中 → 短路 Batcher ＋ Inferencer，直接返回结果（节省 GPU）</a:t>
            </a:r>
            <a:endParaRPr lang="en-US" sz="1050" noProof="1"/>
          </a:p>
        </p:txBody>
      </p:sp>
      <p:sp>
        <p:nvSpPr>
          <p:cNvPr id="31" name="rp1-rule"/>
          <p:cNvSpPr/>
          <p:nvPr/>
        </p:nvSpPr>
        <p:spPr>
          <a:xfrm>
            <a:off x="711200" y="4876800"/>
            <a:ext cx="3352800" cy="254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32" name="rp1-title"/>
          <p:cNvSpPr txBox="1"/>
          <p:nvPr/>
        </p:nvSpPr>
        <p:spPr>
          <a:xfrm>
            <a:off x="711200" y="50038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3292E"/>
                </a:solidFill>
                <a:latin typeface="MiSans"/>
                <a:ea typeface="MiSans"/>
              </a:rPr>
              <a:t>点 1 · 感知｜时延预测</a:t>
            </a:r>
            <a:endParaRPr lang="en-US" sz="1300" noProof="1"/>
          </a:p>
        </p:txBody>
      </p:sp>
      <p:sp>
        <p:nvSpPr>
          <p:cNvPr id="33" name="rp1-desc"/>
          <p:cNvSpPr txBox="1"/>
          <p:nvPr/>
        </p:nvSpPr>
        <p:spPr>
          <a:xfrm>
            <a:off x="711200" y="5283200"/>
            <a:ext cx="3352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5F6B72"/>
                </a:solidFill>
                <a:latin typeface="MiSans"/>
                <a:ea typeface="MiSans"/>
              </a:rPr>
              <a:t>在请求到达与排队处，预测推理长度与端到端时延</a:t>
            </a:r>
            <a:endParaRPr lang="en-US" sz="1050" noProof="1"/>
          </a:p>
        </p:txBody>
      </p:sp>
      <p:sp>
        <p:nvSpPr>
          <p:cNvPr id="34" name="rp1-loc"/>
          <p:cNvSpPr txBox="1"/>
          <p:nvPr/>
        </p:nvSpPr>
        <p:spPr>
          <a:xfrm>
            <a:off x="711200" y="5740400"/>
            <a:ext cx="335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9AA5A1"/>
                </a:solidFill>
                <a:latin typeface="MiSans"/>
                <a:ea typeface="MiSans"/>
              </a:rPr>
              <a:t>作用位置：Source 与 Batcher 前的排队区</a:t>
            </a:r>
            <a:endParaRPr lang="en-US" sz="950" noProof="1"/>
          </a:p>
        </p:txBody>
      </p:sp>
      <p:sp>
        <p:nvSpPr>
          <p:cNvPr id="35" name="rp2-rule"/>
          <p:cNvSpPr/>
          <p:nvPr/>
        </p:nvSpPr>
        <p:spPr>
          <a:xfrm>
            <a:off x="4419600" y="4876800"/>
            <a:ext cx="3352800" cy="254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36" name="rp2-title"/>
          <p:cNvSpPr txBox="1"/>
          <p:nvPr/>
        </p:nvSpPr>
        <p:spPr>
          <a:xfrm>
            <a:off x="4419600" y="50038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3292E"/>
                </a:solidFill>
                <a:latin typeface="MiSans"/>
                <a:ea typeface="MiSans"/>
              </a:rPr>
              <a:t>点 2 · 决策｜短路与调优</a:t>
            </a:r>
            <a:endParaRPr lang="en-US" sz="1300" noProof="1"/>
          </a:p>
        </p:txBody>
      </p:sp>
      <p:sp>
        <p:nvSpPr>
          <p:cNvPr id="37" name="rp2-desc"/>
          <p:cNvSpPr txBox="1"/>
          <p:nvPr/>
        </p:nvSpPr>
        <p:spPr>
          <a:xfrm>
            <a:off x="4419600" y="5283200"/>
            <a:ext cx="3352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5F6B72"/>
                </a:solidFill>
                <a:latin typeface="MiSans"/>
                <a:ea typeface="MiSans"/>
              </a:rPr>
              <a:t>错误率约束内短路复用；联合调优容量 / 并行度 / 批次</a:t>
            </a:r>
            <a:endParaRPr lang="en-US" sz="1050" noProof="1"/>
          </a:p>
        </p:txBody>
      </p:sp>
      <p:sp>
        <p:nvSpPr>
          <p:cNvPr id="38" name="rp2-loc"/>
          <p:cNvSpPr txBox="1"/>
          <p:nvPr/>
        </p:nvSpPr>
        <p:spPr>
          <a:xfrm>
            <a:off x="4419600" y="5740400"/>
            <a:ext cx="335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9AA5A1"/>
                </a:solidFill>
                <a:latin typeface="MiSans"/>
                <a:ea typeface="MiSans"/>
              </a:rPr>
              <a:t>作用位置：全管线（SLO 控制器）</a:t>
            </a:r>
            <a:endParaRPr lang="en-US" sz="950" noProof="1"/>
          </a:p>
        </p:txBody>
      </p:sp>
      <p:sp>
        <p:nvSpPr>
          <p:cNvPr id="39" name="rp3-rule"/>
          <p:cNvSpPr/>
          <p:nvPr/>
        </p:nvSpPr>
        <p:spPr>
          <a:xfrm>
            <a:off x="8128000" y="4876800"/>
            <a:ext cx="3352800" cy="254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40" name="rp3-title"/>
          <p:cNvSpPr txBox="1"/>
          <p:nvPr/>
        </p:nvSpPr>
        <p:spPr>
          <a:xfrm>
            <a:off x="8128000" y="50038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3292E"/>
                </a:solidFill>
                <a:latin typeface="MiSans"/>
                <a:ea typeface="MiSans"/>
              </a:rPr>
              <a:t>点 3 · 执行｜状态优化</a:t>
            </a:r>
            <a:endParaRPr lang="en-US" sz="1300" noProof="1"/>
          </a:p>
        </p:txBody>
      </p:sp>
      <p:sp>
        <p:nvSpPr>
          <p:cNvPr id="41" name="rp3-desc"/>
          <p:cNvSpPr txBox="1"/>
          <p:nvPr/>
        </p:nvSpPr>
        <p:spPr>
          <a:xfrm>
            <a:off x="8128000" y="5283200"/>
            <a:ext cx="3352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5F6B72"/>
                </a:solidFill>
                <a:latin typeface="MiSans"/>
                <a:ea typeface="MiSans"/>
              </a:rPr>
              <a:t>缓存项双路打分替换；会话亲和性路由</a:t>
            </a:r>
            <a:endParaRPr lang="en-US" sz="1050" noProof="1"/>
          </a:p>
        </p:txBody>
      </p:sp>
      <p:sp>
        <p:nvSpPr>
          <p:cNvPr id="42" name="rp3-loc"/>
          <p:cNvSpPr txBox="1"/>
          <p:nvPr/>
        </p:nvSpPr>
        <p:spPr>
          <a:xfrm>
            <a:off x="8128000" y="5740400"/>
            <a:ext cx="335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9AA5A1"/>
                </a:solidFill>
                <a:latin typeface="MiSans"/>
                <a:ea typeface="MiSans"/>
              </a:rPr>
              <a:t>作用位置：语义记忆算子内部</a:t>
            </a:r>
            <a:endParaRPr lang="en-US" sz="950" noProof="1"/>
          </a:p>
        </p:txBody>
      </p:sp>
      <p:sp>
        <p:nvSpPr>
          <p:cNvPr id="43" name="framework-note"/>
          <p:cNvSpPr txBox="1"/>
          <p:nvPr/>
        </p:nvSpPr>
        <p:spPr>
          <a:xfrm>
            <a:off x="711200" y="6121400"/>
            <a:ext cx="10769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9AA5A1"/>
                </a:solidFill>
                <a:latin typeface="MiSans"/>
                <a:ea typeface="MiSans"/>
              </a:rPr>
              <a:t>基底管线 Source → StateFetcher → Batcher → Inferencer → Sink 保持不变；记忆条目存于 Operator State，随 checkpoint 容错。</a:t>
            </a:r>
            <a:endParaRPr lang="en-US" sz="1000" noProof="1"/>
          </a:p>
        </p:txBody>
      </p:sp>
      <p:sp>
        <p:nvSpPr>
          <p:cNvPr id="44" name="footer-left"/>
          <p:cNvSpPr txBox="1"/>
          <p:nvPr/>
        </p:nvSpPr>
        <p:spPr>
          <a:xfrm>
            <a:off x="711200" y="6502400"/>
            <a:ext cx="762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毕业设计初版方案 · 面向 SLO 的知识库缓存动态优化的流式 Agent 推理系统</a:t>
            </a:r>
            <a:endParaRPr lang="en-US" sz="900" noProof="1"/>
          </a:p>
        </p:txBody>
      </p:sp>
      <p:sp>
        <p:nvSpPr>
          <p:cNvPr id="45" name="footer-right"/>
          <p:cNvSpPr txBox="1"/>
          <p:nvPr/>
        </p:nvSpPr>
        <p:spPr>
          <a:xfrm>
            <a:off x="10871200" y="65024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08 / 17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55E52"/>
                </a:solidFill>
                <a:latin typeface="MiSans"/>
                <a:ea typeface="MiSans"/>
              </a:rPr>
              <a:t>04 · 三个研究点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3292E"/>
                </a:solidFill>
                <a:latin typeface="MiSans"/>
                <a:ea typeface="MiSans"/>
              </a:rPr>
              <a:t>研究点总览：感知 → 决策 → 执行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711200" y="1168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graphicFrame>
        <p:nvGraphicFramePr>
          <p:cNvPr id="5" name="overview-table"/>
          <p:cNvGraphicFramePr>
            <a:graphicFrameLocks noGrp="1"/>
          </p:cNvGraphicFramePr>
          <p:nvPr/>
        </p:nvGraphicFramePr>
        <p:xfrm>
          <a:off x="711200" y="1473200"/>
          <a:ext cx="10769600" cy="3708400"/>
        </p:xfrm>
        <a:graphic>
          <a:graphicData uri="http://schemas.openxmlformats.org/drawingml/2006/table">
            <a:tbl>
              <a:tblPr/>
              <a:tblGrid>
                <a:gridCol w="2477008"/>
                <a:gridCol w="2907792"/>
                <a:gridCol w="3338576"/>
                <a:gridCol w="2046224"/>
              </a:tblGrid>
              <a:tr h="482092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研究点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155E5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目标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155E5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关键方法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155E5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产出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155E52"/>
                    </a:solidFill>
                  </a:tcPr>
                </a:tc>
              </a:tr>
              <a:tr h="107543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点 1｜面向多轮上下文的推理时延预测（感知）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高效、准确地预测推理长度与端到端时延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轻量机器学习：token 数区间预测 ＋ TTFT / P50 / P95 预测 ＋ 排队时延推算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时延预测模型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7543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点 2｜面向 SLO 的推理短路与语义库 &amp; 推理参数调优（决策）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满足 SLO 下最小化缓存容量与推理并行度；相似请求短路复用、节省 GPU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vCache 式正确复用概率估计（δ 约束）＋ 容量 / 并行度 / 批次扩缩容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短路机制＋调优策略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6F8F5"/>
                    </a:solidFill>
                  </a:tcPr>
                </a:tc>
              </a:tr>
              <a:tr h="1075436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点 3｜面向语义命中的会话状态执行层优化（执行）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给定容量下最大化语义命中率；扩缩容保持会话亲和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LightGBM × 高效数据结构双路打分替换 ＋ Session ID 一致性哈希路由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替换算法＋路由机制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oop-bar"/>
          <p:cNvSpPr/>
          <p:nvPr/>
        </p:nvSpPr>
        <p:spPr>
          <a:xfrm>
            <a:off x="711200" y="5537200"/>
            <a:ext cx="38100" cy="5334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7" name="loop-text"/>
          <p:cNvSpPr txBox="1"/>
          <p:nvPr/>
        </p:nvSpPr>
        <p:spPr>
          <a:xfrm>
            <a:off x="914400" y="55372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300" noProof="1" b="1">
                <a:solidFill>
                  <a:srgbClr val="23292E"/>
                </a:solidFill>
                <a:latin typeface="MiSans"/>
                <a:ea typeface="MiSans"/>
              </a:rPr>
              <a:t>闭环关系</a:t>
            </a:r>
            <a:r>
              <a:rPr lang="en-US" sz="1300" noProof="1">
                <a:solidFill>
                  <a:srgbClr val="23292E"/>
                </a:solidFill>
                <a:latin typeface="MiSans"/>
                <a:ea typeface="MiSans"/>
              </a:rPr>
              <a:t>：点 1 的预测是点 2 配置的依据，点 3 在点 2 给定的容量下执行，运行观测（命中率 / 错误率 / 时延）再回注点 1 在线校准。</a:t>
            </a:r>
            <a:endParaRPr lang="en-US" sz="1300" noProof="1"/>
          </a:p>
        </p:txBody>
      </p:sp>
      <p:sp>
        <p:nvSpPr>
          <p:cNvPr id="8" name="footer-left"/>
          <p:cNvSpPr txBox="1"/>
          <p:nvPr/>
        </p:nvSpPr>
        <p:spPr>
          <a:xfrm>
            <a:off x="711200" y="6502400"/>
            <a:ext cx="762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毕业设计初版方案 · 面向 SLO 的知识库缓存动态优化的流式 Agent 推理系统</a:t>
            </a:r>
            <a:endParaRPr lang="en-US" sz="900" noProof="1"/>
          </a:p>
        </p:txBody>
      </p:sp>
      <p:sp>
        <p:nvSpPr>
          <p:cNvPr id="9" name="footer-right"/>
          <p:cNvSpPr txBox="1"/>
          <p:nvPr/>
        </p:nvSpPr>
        <p:spPr>
          <a:xfrm>
            <a:off x="10871200" y="65024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09 / 17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55E52"/>
                </a:solidFill>
                <a:latin typeface="MiSans"/>
                <a:ea typeface="MiSans"/>
              </a:rPr>
              <a:t>04 · 三个研究点 — 点 1 感知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3292E"/>
                </a:solidFill>
                <a:latin typeface="MiSans"/>
                <a:ea typeface="MiSans"/>
              </a:rPr>
              <a:t>点 1：面向多轮上下文的推理时延预测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711200" y="1168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5" name="formula"/>
          <p:cNvSpPr txBox="1"/>
          <p:nvPr/>
        </p:nvSpPr>
        <p:spPr>
          <a:xfrm>
            <a:off x="711200" y="1371600"/>
            <a:ext cx="10769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50" noProof="1" b="1">
                <a:solidFill>
                  <a:srgbClr val="23292E"/>
                </a:solidFill>
                <a:latin typeface="MiSans"/>
                <a:ea typeface="MiSans"/>
              </a:rPr>
              <a:t>端到端时延 ＝ </a:t>
            </a:r>
            <a:r>
              <a:rPr lang="en-US" sz="1550" noProof="1" b="1">
                <a:solidFill>
                  <a:srgbClr val="000000"/>
                </a:solidFill>
                <a:latin typeface="MiSans"/>
                <a:ea typeface="MiSans"/>
              </a:rPr>
              <a:t>排队时延</a:t>
            </a:r>
            <a:r>
              <a:rPr lang="en-US" sz="1550" noProof="1" b="1">
                <a:solidFill>
                  <a:srgbClr val="23292E"/>
                </a:solidFill>
                <a:latin typeface="MiSans"/>
                <a:ea typeface="MiSans"/>
              </a:rPr>
              <a:t> ＋ </a:t>
            </a:r>
            <a:r>
              <a:rPr lang="en-US" sz="1550" noProof="1" b="1">
                <a:solidFill>
                  <a:srgbClr val="000000"/>
                </a:solidFill>
                <a:latin typeface="MiSans"/>
                <a:ea typeface="MiSans"/>
              </a:rPr>
              <a:t>推理时延</a:t>
            </a:r>
            <a:r>
              <a:rPr lang="en-US" sz="1550" noProof="1" b="1">
                <a:solidFill>
                  <a:srgbClr val="23292E"/>
                </a:solidFill>
                <a:latin typeface="MiSans"/>
                <a:ea typeface="MiSans"/>
              </a:rPr>
              <a:t>　　（目标：高效、准确地预测两者）</a:t>
            </a:r>
            <a:endParaRPr lang="en-US" sz="1550" noProof="1"/>
          </a:p>
        </p:txBody>
      </p:sp>
      <p:sp>
        <p:nvSpPr>
          <p:cNvPr id="6" name="ra-label"/>
          <p:cNvSpPr txBox="1"/>
          <p:nvPr/>
        </p:nvSpPr>
        <p:spPr>
          <a:xfrm>
            <a:off x="711200" y="1879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55E52"/>
                </a:solidFill>
                <a:latin typeface="MiSans"/>
                <a:ea typeface="MiSans"/>
              </a:rPr>
              <a:t>A · 推理长度预测</a:t>
            </a:r>
            <a:endParaRPr lang="en-US" sz="1250" noProof="1"/>
          </a:p>
        </p:txBody>
      </p:sp>
      <p:sp>
        <p:nvSpPr>
          <p:cNvPr id="7" name="ra-feat"/>
          <p:cNvSpPr/>
          <p:nvPr/>
        </p:nvSpPr>
        <p:spPr>
          <a:xfrm>
            <a:off x="711200" y="2184400"/>
            <a:ext cx="3759200" cy="889000"/>
          </a:xfrm>
          <a:prstGeom prst="roundRect">
            <a:avLst>
              <a:gd name="adj" fmla="val 10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8" name="ra-feat-t"/>
          <p:cNvSpPr txBox="1"/>
          <p:nvPr/>
        </p:nvSpPr>
        <p:spPr>
          <a:xfrm>
            <a:off x="863600" y="2260600"/>
            <a:ext cx="34544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输入特征：当前 prompt、会话上下文长度、RAG 文档长度</a:t>
            </a:r>
            <a:endParaRPr lang="en-US" sz="1100" noProof="1"/>
          </a:p>
        </p:txBody>
      </p:sp>
      <p:sp>
        <p:nvSpPr>
          <p:cNvPr id="9" name="ra-arr1"/>
          <p:cNvSpPr/>
          <p:nvPr>
            <p:extLst>
              <p:ext uri="{F5677B7D-0D2A-4D9B-9A5C-6D8D7D0E5A5D}">
                <pptd:line encoding="base64url">eyJ2aWV3Qm94IjpbMzYsOF0sInBvaW50cyI6IjAsNCAzNiw0In0</pptd:line>
              </p:ext>
            </p:extLst>
          </p:nvPr>
        </p:nvSpPr>
        <p:spPr>
          <a:xfrm>
            <a:off x="4572000" y="2565400"/>
            <a:ext cx="457200" cy="101600"/>
          </a:xfrm>
          <a:custGeom>
            <a:avLst/>
            <a:gdLst/>
            <a:ahLst/>
            <a:cxnLst/>
            <a:rect l="l" t="t" r="r" b="b"/>
            <a:pathLst>
              <a:path w="36" h="8">
                <a:moveTo>
                  <a:pt x="0" y="4"/>
                </a:moveTo>
                <a:lnTo>
                  <a:pt x="36" y="4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10" name="ra-model"/>
          <p:cNvSpPr/>
          <p:nvPr/>
        </p:nvSpPr>
        <p:spPr>
          <a:xfrm>
            <a:off x="5130800" y="2184400"/>
            <a:ext cx="2413000" cy="889000"/>
          </a:xfrm>
          <a:prstGeom prst="roundRect">
            <a:avLst>
              <a:gd name="adj" fmla="val 10000"/>
            </a:avLst>
          </a:prstGeom>
          <a:solidFill>
            <a:srgbClr val="155E52"/>
          </a:solidFill>
          <a:ln>
            <a:noFill/>
          </a:ln>
        </p:spPr>
      </p:sp>
      <p:sp>
        <p:nvSpPr>
          <p:cNvPr id="11" name="ra-model-t"/>
          <p:cNvSpPr txBox="1"/>
          <p:nvPr/>
        </p:nvSpPr>
        <p:spPr>
          <a:xfrm>
            <a:off x="5232400" y="2260600"/>
            <a:ext cx="2209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轻量机器学习模型（同小红书项目）</a:t>
            </a:r>
            <a:endParaRPr lang="en-US" sz="1100" noProof="1"/>
          </a:p>
        </p:txBody>
      </p:sp>
      <p:sp>
        <p:nvSpPr>
          <p:cNvPr id="12" name="ra-arr2"/>
          <p:cNvSpPr/>
          <p:nvPr>
            <p:extLst>
              <p:ext uri="{F5677B7D-0D2A-4D9B-9A5C-6D8D7D0E5A5D}">
                <pptd:line encoding="base64url">eyJ2aWV3Qm94IjpbMzYsOF0sInBvaW50cyI6IjAsNCAzNiw0In0</pptd:line>
              </p:ext>
            </p:extLst>
          </p:nvPr>
        </p:nvSpPr>
        <p:spPr>
          <a:xfrm>
            <a:off x="7645400" y="2565400"/>
            <a:ext cx="457200" cy="101600"/>
          </a:xfrm>
          <a:custGeom>
            <a:avLst/>
            <a:gdLst/>
            <a:ahLst/>
            <a:cxnLst/>
            <a:rect l="l" t="t" r="r" b="b"/>
            <a:pathLst>
              <a:path w="36" h="8">
                <a:moveTo>
                  <a:pt x="0" y="4"/>
                </a:moveTo>
                <a:lnTo>
                  <a:pt x="36" y="4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13" name="ra-out"/>
          <p:cNvSpPr/>
          <p:nvPr/>
        </p:nvSpPr>
        <p:spPr>
          <a:xfrm>
            <a:off x="8204200" y="2184400"/>
            <a:ext cx="3276600" cy="889000"/>
          </a:xfrm>
          <a:prstGeom prst="roundRect">
            <a:avLst>
              <a:gd name="adj" fmla="val 10000"/>
            </a:avLst>
          </a:prstGeom>
          <a:solidFill>
            <a:srgbClr val="E4EEE9"/>
          </a:solidFill>
          <a:ln w="12700">
            <a:solidFill>
              <a:srgbClr val="155E52"/>
            </a:solidFill>
          </a:ln>
        </p:spPr>
      </p:sp>
      <p:sp>
        <p:nvSpPr>
          <p:cNvPr id="14" name="ra-out-t"/>
          <p:cNvSpPr txBox="1"/>
          <p:nvPr/>
        </p:nvSpPr>
        <p:spPr>
          <a:xfrm>
            <a:off x="8356600" y="2260600"/>
            <a:ext cx="2971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输出：输出 token 数的区间估计</a:t>
            </a:r>
            <a:endParaRPr lang="en-US" sz="1100" noProof="1"/>
          </a:p>
        </p:txBody>
      </p:sp>
      <p:sp>
        <p:nvSpPr>
          <p:cNvPr id="15" name="rb-label"/>
          <p:cNvSpPr txBox="1"/>
          <p:nvPr/>
        </p:nvSpPr>
        <p:spPr>
          <a:xfrm>
            <a:off x="711200" y="3327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55E52"/>
                </a:solidFill>
                <a:latin typeface="MiSans"/>
                <a:ea typeface="MiSans"/>
              </a:rPr>
              <a:t>B · 推理时延预测</a:t>
            </a:r>
            <a:endParaRPr lang="en-US" sz="1250" noProof="1"/>
          </a:p>
        </p:txBody>
      </p:sp>
      <p:sp>
        <p:nvSpPr>
          <p:cNvPr id="16" name="rb-feat"/>
          <p:cNvSpPr/>
          <p:nvPr/>
        </p:nvSpPr>
        <p:spPr>
          <a:xfrm>
            <a:off x="711200" y="3632200"/>
            <a:ext cx="3759200" cy="889000"/>
          </a:xfrm>
          <a:prstGeom prst="roundRect">
            <a:avLst>
              <a:gd name="adj" fmla="val 10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17" name="rb-feat-t"/>
          <p:cNvSpPr txBox="1"/>
          <p:nvPr/>
        </p:nvSpPr>
        <p:spPr>
          <a:xfrm>
            <a:off x="863600" y="3708400"/>
            <a:ext cx="34544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输入特征：token 数区间、批次大小、并行度、队列长度（新增）</a:t>
            </a:r>
            <a:endParaRPr lang="en-US" sz="1100" noProof="1"/>
          </a:p>
        </p:txBody>
      </p:sp>
      <p:sp>
        <p:nvSpPr>
          <p:cNvPr id="18" name="rb-arr1"/>
          <p:cNvSpPr/>
          <p:nvPr>
            <p:extLst>
              <p:ext uri="{F5677B7D-0D2A-4D9B-9A5C-6D8D7D0E5A5D}">
                <pptd:line encoding="base64url">eyJ2aWV3Qm94IjpbMzYsOF0sInBvaW50cyI6IjAsNCAzNiw0In0</pptd:line>
              </p:ext>
            </p:extLst>
          </p:nvPr>
        </p:nvSpPr>
        <p:spPr>
          <a:xfrm>
            <a:off x="4572000" y="4013200"/>
            <a:ext cx="457200" cy="101600"/>
          </a:xfrm>
          <a:custGeom>
            <a:avLst/>
            <a:gdLst/>
            <a:ahLst/>
            <a:cxnLst/>
            <a:rect l="l" t="t" r="r" b="b"/>
            <a:pathLst>
              <a:path w="36" h="8">
                <a:moveTo>
                  <a:pt x="0" y="4"/>
                </a:moveTo>
                <a:lnTo>
                  <a:pt x="36" y="4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19" name="rb-model"/>
          <p:cNvSpPr/>
          <p:nvPr/>
        </p:nvSpPr>
        <p:spPr>
          <a:xfrm>
            <a:off x="5130800" y="3632200"/>
            <a:ext cx="2413000" cy="889000"/>
          </a:xfrm>
          <a:prstGeom prst="roundRect">
            <a:avLst>
              <a:gd name="adj" fmla="val 10000"/>
            </a:avLst>
          </a:prstGeom>
          <a:solidFill>
            <a:srgbClr val="155E52"/>
          </a:solidFill>
          <a:ln>
            <a:noFill/>
          </a:ln>
        </p:spPr>
      </p:sp>
      <p:sp>
        <p:nvSpPr>
          <p:cNvPr id="20" name="rb-model-t"/>
          <p:cNvSpPr txBox="1"/>
          <p:nvPr/>
        </p:nvSpPr>
        <p:spPr>
          <a:xfrm>
            <a:off x="5232400" y="3708400"/>
            <a:ext cx="2209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轻量机器学习模型（同小红书项目）</a:t>
            </a:r>
            <a:endParaRPr lang="en-US" sz="1100" noProof="1"/>
          </a:p>
        </p:txBody>
      </p:sp>
      <p:sp>
        <p:nvSpPr>
          <p:cNvPr id="21" name="rb-arr2"/>
          <p:cNvSpPr/>
          <p:nvPr>
            <p:extLst>
              <p:ext uri="{F5677B7D-0D2A-4D9B-9A5C-6D8D7D0E5A5D}">
                <pptd:line encoding="base64url">eyJ2aWV3Qm94IjpbMzYsOF0sInBvaW50cyI6IjAsNCAzNiw0In0</pptd:line>
              </p:ext>
            </p:extLst>
          </p:nvPr>
        </p:nvSpPr>
        <p:spPr>
          <a:xfrm>
            <a:off x="7645400" y="4013200"/>
            <a:ext cx="457200" cy="101600"/>
          </a:xfrm>
          <a:custGeom>
            <a:avLst/>
            <a:gdLst/>
            <a:ahLst/>
            <a:cxnLst/>
            <a:rect l="l" t="t" r="r" b="b"/>
            <a:pathLst>
              <a:path w="36" h="8">
                <a:moveTo>
                  <a:pt x="0" y="4"/>
                </a:moveTo>
                <a:lnTo>
                  <a:pt x="36" y="4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22" name="rb-out"/>
          <p:cNvSpPr/>
          <p:nvPr/>
        </p:nvSpPr>
        <p:spPr>
          <a:xfrm>
            <a:off x="8204200" y="3632200"/>
            <a:ext cx="3276600" cy="889000"/>
          </a:xfrm>
          <a:prstGeom prst="roundRect">
            <a:avLst>
              <a:gd name="adj" fmla="val 10000"/>
            </a:avLst>
          </a:prstGeom>
          <a:solidFill>
            <a:srgbClr val="E4EEE9"/>
          </a:solidFill>
          <a:ln w="12700">
            <a:solidFill>
              <a:srgbClr val="155E52"/>
            </a:solidFill>
          </a:ln>
        </p:spPr>
      </p:sp>
      <p:sp>
        <p:nvSpPr>
          <p:cNvPr id="23" name="rb-out-t"/>
          <p:cNvSpPr txBox="1"/>
          <p:nvPr/>
        </p:nvSpPr>
        <p:spPr>
          <a:xfrm>
            <a:off x="8356600" y="3708400"/>
            <a:ext cx="2971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输出：TTFT、端到端时延 P50 / P95</a:t>
            </a:r>
            <a:endParaRPr lang="en-US" sz="1100" noProof="1"/>
          </a:p>
        </p:txBody>
      </p:sp>
      <p:sp>
        <p:nvSpPr>
          <p:cNvPr id="24" name="rc-label"/>
          <p:cNvSpPr txBox="1"/>
          <p:nvPr/>
        </p:nvSpPr>
        <p:spPr>
          <a:xfrm>
            <a:off x="711200" y="4775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C9752F"/>
                </a:solidFill>
                <a:latin typeface="MiSans"/>
                <a:ea typeface="MiSans"/>
              </a:rPr>
              <a:t>C · 排队时延推算（规则）</a:t>
            </a:r>
            <a:endParaRPr lang="en-US" sz="1250" noProof="1"/>
          </a:p>
        </p:txBody>
      </p:sp>
      <p:sp>
        <p:nvSpPr>
          <p:cNvPr id="25" name="rc-feat"/>
          <p:cNvSpPr/>
          <p:nvPr/>
        </p:nvSpPr>
        <p:spPr>
          <a:xfrm>
            <a:off x="711200" y="5080000"/>
            <a:ext cx="3759200" cy="889000"/>
          </a:xfrm>
          <a:prstGeom prst="roundRect">
            <a:avLst>
              <a:gd name="adj" fmla="val 10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26" name="rc-feat-t"/>
          <p:cNvSpPr txBox="1"/>
          <p:nvPr/>
        </p:nvSpPr>
        <p:spPr>
          <a:xfrm>
            <a:off x="863600" y="5156200"/>
            <a:ext cx="34544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输入：当前请求在队列中的位置、前序请求的预测时延</a:t>
            </a:r>
            <a:endParaRPr lang="en-US" sz="1100" noProof="1"/>
          </a:p>
        </p:txBody>
      </p:sp>
      <p:sp>
        <p:nvSpPr>
          <p:cNvPr id="27" name="rc-arr1"/>
          <p:cNvSpPr/>
          <p:nvPr>
            <p:extLst>
              <p:ext uri="{F5677B7D-0D2A-4D9B-9A5C-6D8D7D0E5A5D}">
                <pptd:line encoding="base64url">eyJ2aWV3Qm94IjpbMzYsOF0sInBvaW50cyI6IjAsNCAzNiw0In0</pptd:line>
              </p:ext>
            </p:extLst>
          </p:nvPr>
        </p:nvSpPr>
        <p:spPr>
          <a:xfrm>
            <a:off x="4572000" y="5461000"/>
            <a:ext cx="457200" cy="101600"/>
          </a:xfrm>
          <a:custGeom>
            <a:avLst/>
            <a:gdLst/>
            <a:ahLst/>
            <a:cxnLst/>
            <a:rect l="l" t="t" r="r" b="b"/>
            <a:pathLst>
              <a:path w="36" h="8">
                <a:moveTo>
                  <a:pt x="0" y="4"/>
                </a:moveTo>
                <a:lnTo>
                  <a:pt x="36" y="4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28" name="rc-model"/>
          <p:cNvSpPr/>
          <p:nvPr/>
        </p:nvSpPr>
        <p:spPr>
          <a:xfrm>
            <a:off x="5130800" y="5080000"/>
            <a:ext cx="2413000" cy="889000"/>
          </a:xfrm>
          <a:prstGeom prst="roundRect">
            <a:avLst>
              <a:gd name="adj" fmla="val 10000"/>
            </a:avLst>
          </a:prstGeom>
          <a:solidFill>
            <a:srgbClr val="F2F5F0"/>
          </a:solidFill>
          <a:ln w="12700">
            <a:solidFill>
              <a:srgbClr val="C9752F"/>
            </a:solidFill>
          </a:ln>
        </p:spPr>
      </p:sp>
      <p:sp>
        <p:nvSpPr>
          <p:cNvPr id="29" name="rc-model-t"/>
          <p:cNvSpPr txBox="1"/>
          <p:nvPr/>
        </p:nvSpPr>
        <p:spPr>
          <a:xfrm>
            <a:off x="5232400" y="5156200"/>
            <a:ext cx="2209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100" noProof="1" b="1">
                <a:solidFill>
                  <a:srgbClr val="23292E"/>
                </a:solidFill>
                <a:latin typeface="MiSans"/>
                <a:ea typeface="MiSans"/>
              </a:rPr>
              <a:t>按队列位置累加前序请求预测时延</a:t>
            </a:r>
            <a:endParaRPr lang="en-US" sz="1100" noProof="1"/>
          </a:p>
        </p:txBody>
      </p:sp>
      <p:sp>
        <p:nvSpPr>
          <p:cNvPr id="30" name="rc-arr2"/>
          <p:cNvSpPr/>
          <p:nvPr>
            <p:extLst>
              <p:ext uri="{F5677B7D-0D2A-4D9B-9A5C-6D8D7D0E5A5D}">
                <pptd:line encoding="base64url">eyJ2aWV3Qm94IjpbMzYsOF0sInBvaW50cyI6IjAsNCAzNiw0In0</pptd:line>
              </p:ext>
            </p:extLst>
          </p:nvPr>
        </p:nvSpPr>
        <p:spPr>
          <a:xfrm>
            <a:off x="7645400" y="5461000"/>
            <a:ext cx="457200" cy="101600"/>
          </a:xfrm>
          <a:custGeom>
            <a:avLst/>
            <a:gdLst/>
            <a:ahLst/>
            <a:cxnLst/>
            <a:rect l="l" t="t" r="r" b="b"/>
            <a:pathLst>
              <a:path w="36" h="8">
                <a:moveTo>
                  <a:pt x="0" y="4"/>
                </a:moveTo>
                <a:lnTo>
                  <a:pt x="36" y="4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31" name="rc-out"/>
          <p:cNvSpPr/>
          <p:nvPr/>
        </p:nvSpPr>
        <p:spPr>
          <a:xfrm>
            <a:off x="8204200" y="5080000"/>
            <a:ext cx="3276600" cy="889000"/>
          </a:xfrm>
          <a:prstGeom prst="roundRect">
            <a:avLst>
              <a:gd name="adj" fmla="val 10000"/>
            </a:avLst>
          </a:prstGeom>
          <a:solidFill>
            <a:srgbClr val="E4EEE9"/>
          </a:solidFill>
          <a:ln w="12700">
            <a:solidFill>
              <a:srgbClr val="155E52"/>
            </a:solidFill>
          </a:ln>
        </p:spPr>
      </p:sp>
      <p:sp>
        <p:nvSpPr>
          <p:cNvPr id="32" name="rc-out-t"/>
          <p:cNvSpPr txBox="1"/>
          <p:nvPr/>
        </p:nvSpPr>
        <p:spPr>
          <a:xfrm>
            <a:off x="8356600" y="5156200"/>
            <a:ext cx="2971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输出：排队时延 → 与 B 相加得端到端时延</a:t>
            </a:r>
            <a:endParaRPr lang="en-US" sz="1100" noProof="1"/>
          </a:p>
        </p:txBody>
      </p:sp>
      <p:sp>
        <p:nvSpPr>
          <p:cNvPr id="33" name="p1-note"/>
          <p:cNvSpPr txBox="1"/>
          <p:nvPr/>
        </p:nvSpPr>
        <p:spPr>
          <a:xfrm>
            <a:off x="711200" y="6146800"/>
            <a:ext cx="10769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9AA5A1"/>
                </a:solidFill>
                <a:latin typeface="MiSans"/>
                <a:ea typeface="MiSans"/>
              </a:rPr>
              <a:t>方法沿用小红书项目的轻量机器学习路线；面向多轮会话新增：会话上下文长度、RAG 文档长度、队列长度三类特征。</a:t>
            </a:r>
            <a:endParaRPr lang="en-US" sz="1000" noProof="1"/>
          </a:p>
        </p:txBody>
      </p:sp>
      <p:sp>
        <p:nvSpPr>
          <p:cNvPr id="34" name="footer-left"/>
          <p:cNvSpPr txBox="1"/>
          <p:nvPr/>
        </p:nvSpPr>
        <p:spPr>
          <a:xfrm>
            <a:off x="711200" y="6502400"/>
            <a:ext cx="762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毕业设计初版方案 · 面向 SLO 的知识库缓存动态优化的流式 Agent 推理系统</a:t>
            </a:r>
            <a:endParaRPr lang="en-US" sz="900" noProof="1"/>
          </a:p>
        </p:txBody>
      </p:sp>
      <p:sp>
        <p:nvSpPr>
          <p:cNvPr id="35" name="footer-right"/>
          <p:cNvSpPr txBox="1"/>
          <p:nvPr/>
        </p:nvSpPr>
        <p:spPr>
          <a:xfrm>
            <a:off x="10871200" y="65024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10 / 17</a:t>
            </a:r>
            <a:endParaRPr lang="en-US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55E52"/>
                </a:solidFill>
                <a:latin typeface="MiSans"/>
                <a:ea typeface="MiSans"/>
              </a:rPr>
              <a:t>04 · 三个研究点 — 点 2 决策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3292E"/>
                </a:solidFill>
                <a:latin typeface="MiSans"/>
                <a:ea typeface="MiSans"/>
              </a:rPr>
              <a:t>点 2a：推理短路——相似请求直接复用历史回复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711200" y="1168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5" name="sc-n1"/>
          <p:cNvSpPr/>
          <p:nvPr/>
        </p:nvSpPr>
        <p:spPr>
          <a:xfrm>
            <a:off x="711200" y="1854200"/>
            <a:ext cx="2159000" cy="711200"/>
          </a:xfrm>
          <a:prstGeom prst="roundRect">
            <a:avLst>
              <a:gd name="adj" fmla="val 10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6" name="sc-n1-t"/>
          <p:cNvSpPr txBox="1"/>
          <p:nvPr/>
        </p:nvSpPr>
        <p:spPr>
          <a:xfrm>
            <a:off x="787400" y="1905000"/>
            <a:ext cx="2006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拼接完整上下文后的 prompt</a:t>
            </a:r>
            <a:endParaRPr lang="en-US" sz="1100" noProof="1"/>
          </a:p>
        </p:txBody>
      </p:sp>
      <p:sp>
        <p:nvSpPr>
          <p:cNvPr id="7" name="sc-arr1"/>
          <p:cNvSpPr/>
          <p:nvPr>
            <p:extLst>
              <p:ext uri="{F5677B7D-0D2A-4D9B-9A5C-6D8D7D0E5A5D}">
                <pptd:line encoding="base64url">eyJ2aWV3Qm94IjpbNDAsOF0sInBvaW50cyI6IjAsNCA0MCw0In0</pptd:line>
              </p:ext>
            </p:extLst>
          </p:nvPr>
        </p:nvSpPr>
        <p:spPr>
          <a:xfrm>
            <a:off x="2946400" y="2159000"/>
            <a:ext cx="508000" cy="101600"/>
          </a:xfrm>
          <a:custGeom>
            <a:avLst/>
            <a:gdLst/>
            <a:ahLst/>
            <a:cxnLst/>
            <a:rect l="l" t="t" r="r" b="b"/>
            <a:pathLst>
              <a:path w="40" h="8">
                <a:moveTo>
                  <a:pt x="0" y="4"/>
                </a:moveTo>
                <a:lnTo>
                  <a:pt x="40" y="4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8" name="sc-n2"/>
          <p:cNvSpPr/>
          <p:nvPr/>
        </p:nvSpPr>
        <p:spPr>
          <a:xfrm>
            <a:off x="3530600" y="1854200"/>
            <a:ext cx="2489200" cy="711200"/>
          </a:xfrm>
          <a:prstGeom prst="roundRect">
            <a:avLst>
              <a:gd name="adj" fmla="val 10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9" name="sc-n2-t"/>
          <p:cNvSpPr txBox="1"/>
          <p:nvPr/>
        </p:nvSpPr>
        <p:spPr>
          <a:xfrm>
            <a:off x="3606800" y="1905000"/>
            <a:ext cx="2336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计算 embedding 语义相似度（与语义库最近邻比较）</a:t>
            </a:r>
            <a:endParaRPr lang="en-US" sz="1100" noProof="1"/>
          </a:p>
        </p:txBody>
      </p:sp>
      <p:sp>
        <p:nvSpPr>
          <p:cNvPr id="10" name="sc-arr2"/>
          <p:cNvSpPr/>
          <p:nvPr>
            <p:extLst>
              <p:ext uri="{F5677B7D-0D2A-4D9B-9A5C-6D8D7D0E5A5D}">
                <pptd:line encoding="base64url">eyJ2aWV3Qm94IjpbMzYsOF0sInBvaW50cyI6IjAsNCAzNiw0In0</pptd:line>
              </p:ext>
            </p:extLst>
          </p:nvPr>
        </p:nvSpPr>
        <p:spPr>
          <a:xfrm>
            <a:off x="6096000" y="2159000"/>
            <a:ext cx="457200" cy="101600"/>
          </a:xfrm>
          <a:custGeom>
            <a:avLst/>
            <a:gdLst/>
            <a:ahLst/>
            <a:cxnLst/>
            <a:rect l="l" t="t" r="r" b="b"/>
            <a:pathLst>
              <a:path w="36" h="8">
                <a:moveTo>
                  <a:pt x="0" y="4"/>
                </a:moveTo>
                <a:lnTo>
                  <a:pt x="36" y="4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11" name="sc-diamond"/>
          <p:cNvSpPr/>
          <p:nvPr/>
        </p:nvSpPr>
        <p:spPr>
          <a:xfrm>
            <a:off x="6629400" y="1574800"/>
            <a:ext cx="1676400" cy="1270000"/>
          </a:xfrm>
          <a:prstGeom prst="diamond">
            <a:avLst/>
          </a:prstGeom>
          <a:solidFill>
            <a:srgbClr val="E4EEE9"/>
          </a:solidFill>
          <a:ln w="15240">
            <a:solidFill>
              <a:srgbClr val="155E52"/>
            </a:solidFill>
          </a:ln>
        </p:spPr>
      </p:sp>
      <p:sp>
        <p:nvSpPr>
          <p:cNvPr id="12" name="sc-diamond-t"/>
          <p:cNvSpPr txBox="1"/>
          <p:nvPr/>
        </p:nvSpPr>
        <p:spPr>
          <a:xfrm>
            <a:off x="6781800" y="1854200"/>
            <a:ext cx="1371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950" noProof="1">
                <a:solidFill>
                  <a:srgbClr val="23292E"/>
                </a:solidFill>
                <a:latin typeface="MiSans"/>
                <a:ea typeface="MiSans"/>
              </a:rPr>
              <a:t>相似度 ≥ 阈值且正确复用概率达标？</a:t>
            </a:r>
            <a:endParaRPr lang="en-US" sz="950" noProof="1"/>
          </a:p>
        </p:txBody>
      </p:sp>
      <p:sp>
        <p:nvSpPr>
          <p:cNvPr id="13" name="sc-yes-label"/>
          <p:cNvSpPr txBox="1"/>
          <p:nvPr/>
        </p:nvSpPr>
        <p:spPr>
          <a:xfrm>
            <a:off x="8407400" y="18034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55E52"/>
                </a:solidFill>
                <a:latin typeface="MiSans"/>
                <a:ea typeface="MiSans"/>
              </a:rPr>
              <a:t>是</a:t>
            </a:r>
            <a:endParaRPr lang="en-US" sz="1100" noProof="1"/>
          </a:p>
        </p:txBody>
      </p:sp>
      <p:sp>
        <p:nvSpPr>
          <p:cNvPr id="14" name="sc-arr-yes"/>
          <p:cNvSpPr/>
          <p:nvPr>
            <p:extLst>
              <p:ext uri="{F5677B7D-0D2A-4D9B-9A5C-6D8D7D0E5A5D}">
                <pptd:line encoding="base64url">eyJ2aWV3Qm94IjpbNDAsOF0sInBvaW50cyI6IjAsNCA0MCw0In0</pptd:line>
              </p:ext>
            </p:extLst>
          </p:nvPr>
        </p:nvSpPr>
        <p:spPr>
          <a:xfrm>
            <a:off x="8382000" y="2108200"/>
            <a:ext cx="508000" cy="101600"/>
          </a:xfrm>
          <a:custGeom>
            <a:avLst/>
            <a:gdLst/>
            <a:ahLst/>
            <a:cxnLst/>
            <a:rect l="l" t="t" r="r" b="b"/>
            <a:pathLst>
              <a:path w="40" h="8">
                <a:moveTo>
                  <a:pt x="0" y="4"/>
                </a:moveTo>
                <a:lnTo>
                  <a:pt x="40" y="4"/>
                </a:lnTo>
              </a:path>
            </a:pathLst>
          </a:custGeom>
          <a:noFill/>
          <a:ln w="19050" cap="rnd">
            <a:solidFill>
              <a:srgbClr val="155E52"/>
            </a:solidFill>
            <a:round/>
            <a:tailEnd type="stealth"/>
          </a:ln>
        </p:spPr>
      </p:sp>
      <p:sp>
        <p:nvSpPr>
          <p:cNvPr id="15" name="sc-n3"/>
          <p:cNvSpPr/>
          <p:nvPr/>
        </p:nvSpPr>
        <p:spPr>
          <a:xfrm>
            <a:off x="8966200" y="1752600"/>
            <a:ext cx="2514600" cy="711200"/>
          </a:xfrm>
          <a:prstGeom prst="roundRect">
            <a:avLst>
              <a:gd name="adj" fmla="val 10000"/>
            </a:avLst>
          </a:prstGeom>
          <a:solidFill>
            <a:srgbClr val="155E52"/>
          </a:solidFill>
          <a:ln>
            <a:noFill/>
          </a:ln>
        </p:spPr>
      </p:sp>
      <p:sp>
        <p:nvSpPr>
          <p:cNvPr id="16" name="sc-n3-t"/>
          <p:cNvSpPr txBox="1"/>
          <p:nvPr/>
        </p:nvSpPr>
        <p:spPr>
          <a:xfrm>
            <a:off x="9042400" y="1803400"/>
            <a:ext cx="2362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050" noProof="1" b="1">
                <a:solidFill>
                  <a:srgbClr val="FFFFFF"/>
                </a:solidFill>
                <a:latin typeface="MiSans"/>
                <a:ea typeface="MiSans"/>
              </a:rPr>
              <a:t>短路到对话明细存储算子（保留最近 T 时间的会话结果）</a:t>
            </a:r>
            <a:endParaRPr lang="en-US" sz="1050" noProof="1"/>
          </a:p>
        </p:txBody>
      </p:sp>
      <p:sp>
        <p:nvSpPr>
          <p:cNvPr id="17" name="sc-n3-cap"/>
          <p:cNvSpPr txBox="1"/>
          <p:nvPr/>
        </p:nvSpPr>
        <p:spPr>
          <a:xfrm>
            <a:off x="8966200" y="2565400"/>
            <a:ext cx="2514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155E52"/>
                </a:solidFill>
                <a:latin typeface="MiSans"/>
                <a:ea typeface="MiSans"/>
              </a:rPr>
              <a:t>拿到会话结果直接返回用户，省去一次拼接上下文与推理 → 节省 GPU</a:t>
            </a:r>
            <a:endParaRPr lang="en-US" sz="1000" noProof="1"/>
          </a:p>
        </p:txBody>
      </p:sp>
      <p:sp>
        <p:nvSpPr>
          <p:cNvPr id="18" name="sc-no-label"/>
          <p:cNvSpPr txBox="1"/>
          <p:nvPr/>
        </p:nvSpPr>
        <p:spPr>
          <a:xfrm>
            <a:off x="7061200" y="29210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5F6B72"/>
                </a:solidFill>
                <a:latin typeface="MiSans"/>
                <a:ea typeface="MiSans"/>
              </a:rPr>
              <a:t>否</a:t>
            </a:r>
            <a:endParaRPr lang="en-US" sz="1100" noProof="1"/>
          </a:p>
        </p:txBody>
      </p:sp>
      <p:sp>
        <p:nvSpPr>
          <p:cNvPr id="19" name="sc-arr-no"/>
          <p:cNvSpPr/>
          <p:nvPr>
            <p:extLst>
              <p:ext uri="{F5677B7D-0D2A-4D9B-9A5C-6D8D7D0E5A5D}">
                <pptd:line encoding="base64url">eyJ2aWV3Qm94IjpbNCwzNF0sInBvaW50cyI6IjIsMCAyLDM0In0</pptd:line>
              </p:ext>
            </p:extLst>
          </p:nvPr>
        </p:nvSpPr>
        <p:spPr>
          <a:xfrm>
            <a:off x="7442200" y="2895600"/>
            <a:ext cx="50800" cy="431800"/>
          </a:xfrm>
          <a:custGeom>
            <a:avLst/>
            <a:gdLst/>
            <a:ahLst/>
            <a:cxnLst/>
            <a:rect l="l" t="t" r="r" b="b"/>
            <a:pathLst>
              <a:path w="4" h="34">
                <a:moveTo>
                  <a:pt x="2" y="0"/>
                </a:moveTo>
                <a:lnTo>
                  <a:pt x="2" y="34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20" name="sc-n4"/>
          <p:cNvSpPr/>
          <p:nvPr/>
        </p:nvSpPr>
        <p:spPr>
          <a:xfrm>
            <a:off x="6350000" y="3378200"/>
            <a:ext cx="2235200" cy="660400"/>
          </a:xfrm>
          <a:prstGeom prst="roundRect">
            <a:avLst>
              <a:gd name="adj" fmla="val 10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21" name="sc-n4-t"/>
          <p:cNvSpPr txBox="1"/>
          <p:nvPr/>
        </p:nvSpPr>
        <p:spPr>
          <a:xfrm>
            <a:off x="6426200" y="3429000"/>
            <a:ext cx="208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050" noProof="1">
                <a:solidFill>
                  <a:srgbClr val="23292E"/>
                </a:solidFill>
                <a:latin typeface="MiSans"/>
                <a:ea typeface="MiSans"/>
              </a:rPr>
              <a:t>Batcher → Inferencer走完整推理路径</a:t>
            </a:r>
            <a:endParaRPr lang="en-US" sz="1050" noProof="1"/>
          </a:p>
        </p:txBody>
      </p:sp>
      <p:sp>
        <p:nvSpPr>
          <p:cNvPr id="22" name="sc-arr-n5"/>
          <p:cNvSpPr/>
          <p:nvPr>
            <p:extLst>
              <p:ext uri="{F5677B7D-0D2A-4D9B-9A5C-6D8D7D0E5A5D}">
                <pptd:line encoding="base64url">eyJ2aWV3Qm94IjpbMzYsOF0sInBvaW50cyI6IjAsNCAzNiw0In0</pptd:line>
              </p:ext>
            </p:extLst>
          </p:nvPr>
        </p:nvSpPr>
        <p:spPr>
          <a:xfrm>
            <a:off x="8661400" y="3657600"/>
            <a:ext cx="457200" cy="101600"/>
          </a:xfrm>
          <a:custGeom>
            <a:avLst/>
            <a:gdLst/>
            <a:ahLst/>
            <a:cxnLst/>
            <a:rect l="l" t="t" r="r" b="b"/>
            <a:pathLst>
              <a:path w="36" h="8">
                <a:moveTo>
                  <a:pt x="0" y="4"/>
                </a:moveTo>
                <a:lnTo>
                  <a:pt x="36" y="4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23" name="sc-n5"/>
          <p:cNvSpPr/>
          <p:nvPr/>
        </p:nvSpPr>
        <p:spPr>
          <a:xfrm>
            <a:off x="9194800" y="3378200"/>
            <a:ext cx="2286000" cy="660400"/>
          </a:xfrm>
          <a:prstGeom prst="roundRect">
            <a:avLst>
              <a:gd name="adj" fmla="val 10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24" name="sc-n5-t"/>
          <p:cNvSpPr txBox="1"/>
          <p:nvPr/>
        </p:nvSpPr>
        <p:spPr>
          <a:xfrm>
            <a:off x="9271000" y="3429000"/>
            <a:ext cx="2133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050" noProof="1">
                <a:solidFill>
                  <a:srgbClr val="23292E"/>
                </a:solidFill>
                <a:latin typeface="MiSans"/>
                <a:ea typeface="MiSans"/>
              </a:rPr>
              <a:t>结果写回语义库 / 对话明细（供后续请求复用）</a:t>
            </a:r>
            <a:endParaRPr lang="en-US" sz="1050" noProof="1"/>
          </a:p>
        </p:txBody>
      </p:sp>
      <p:sp>
        <p:nvSpPr>
          <p:cNvPr id="25" name="vc-bar"/>
          <p:cNvSpPr/>
          <p:nvPr/>
        </p:nvSpPr>
        <p:spPr>
          <a:xfrm>
            <a:off x="711200" y="4572000"/>
            <a:ext cx="38100" cy="13208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26" name="vc-title"/>
          <p:cNvSpPr txBox="1"/>
          <p:nvPr/>
        </p:nvSpPr>
        <p:spPr>
          <a:xfrm>
            <a:off x="914400" y="45720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3292E"/>
                </a:solidFill>
                <a:latin typeface="MiSans"/>
                <a:ea typeface="MiSans"/>
              </a:rPr>
              <a:t>借鉴 vCache（ICLR 2026）：错误率可控的语义缓存</a:t>
            </a:r>
            <a:endParaRPr lang="en-US" sz="1300" noProof="1"/>
          </a:p>
        </p:txBody>
      </p:sp>
      <p:sp>
        <p:nvSpPr>
          <p:cNvPr id="27" name="vc-body"/>
          <p:cNvSpPr txBox="1"/>
          <p:nvPr/>
        </p:nvSpPr>
        <p:spPr>
          <a:xfrm>
            <a:off x="914400" y="4876800"/>
            <a:ext cx="10566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200" noProof="1" b="1">
                <a:solidFill>
                  <a:srgbClr val="23292E"/>
                </a:solidFill>
                <a:latin typeface="MiSans"/>
                <a:ea typeface="MiSans"/>
              </a:rPr>
              <a:t>vCache 解决的问题</a:t>
            </a:r>
            <a:r>
              <a:rPr lang="en-US" sz="1200" noProof="1">
                <a:solidFill>
                  <a:srgbClr val="5F6B72"/>
                </a:solidFill>
                <a:latin typeface="MiSans"/>
                <a:ea typeface="MiSans"/>
              </a:rPr>
              <a:t>：两个问题语义相似时，系统怎样在「尽量复用历史回答」的同时，把返回错误回答的概率控制在用户指定的范围 δ 内。</a:t>
            </a:r>
            <a:endParaRPr lang="en-US" sz="1200" noProof="1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200" noProof="1" b="1">
                <a:solidFill>
                  <a:srgbClr val="23292E"/>
                </a:solidFill>
                <a:latin typeface="MiSans"/>
                <a:ea typeface="MiSans"/>
              </a:rPr>
              <a:t>本课题做法</a:t>
            </a:r>
            <a:r>
              <a:rPr lang="en-US" sz="1200" noProof="1">
                <a:solidFill>
                  <a:srgbClr val="5F6B72"/>
                </a:solidFill>
                <a:latin typeface="MiSans"/>
                <a:ea typeface="MiSans"/>
              </a:rPr>
              <a:t>：根据历史探索结果估计候选响应的「正确复用概率」（简版实现，贴合流处理系统场景）；仅当相似度达到阈值 </a:t>
            </a:r>
            <a:r>
              <a:rPr lang="en-US" sz="1200" noProof="1" b="1">
                <a:solidFill>
                  <a:srgbClr val="23292E"/>
                </a:solidFill>
                <a:latin typeface="MiSans"/>
                <a:ea typeface="MiSans"/>
              </a:rPr>
              <a:t>且</a:t>
            </a:r>
            <a:r>
              <a:rPr lang="en-US" sz="1200" noProof="1">
                <a:solidFill>
                  <a:srgbClr val="5F6B72"/>
                </a:solidFill>
                <a:latin typeface="MiSans"/>
                <a:ea typeface="MiSans"/>
              </a:rPr>
              <a:t> 满足错误率约束时才短路，把短路产生的错误回复控制在阈值内。</a:t>
            </a:r>
            <a:endParaRPr lang="en-US" sz="1200" noProof="1"/>
          </a:p>
        </p:txBody>
      </p:sp>
      <p:sp>
        <p:nvSpPr>
          <p:cNvPr id="28" name="footer-left"/>
          <p:cNvSpPr txBox="1"/>
          <p:nvPr/>
        </p:nvSpPr>
        <p:spPr>
          <a:xfrm>
            <a:off x="711200" y="6502400"/>
            <a:ext cx="762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毕业设计初版方案 · 面向 SLO 的知识库缓存动态优化的流式 Agent 推理系统</a:t>
            </a:r>
            <a:endParaRPr lang="en-US" sz="900" noProof="1"/>
          </a:p>
        </p:txBody>
      </p:sp>
      <p:sp>
        <p:nvSpPr>
          <p:cNvPr id="29" name="footer-right"/>
          <p:cNvSpPr txBox="1"/>
          <p:nvPr/>
        </p:nvSpPr>
        <p:spPr>
          <a:xfrm>
            <a:off x="10871200" y="65024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11 / 17</a:t>
            </a:r>
            <a:endParaRPr lang="en-US" sz="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55E52"/>
                </a:solidFill>
                <a:latin typeface="MiSans"/>
                <a:ea typeface="MiSans"/>
              </a:rPr>
              <a:t>04 · 三个研究点 — 点 2 决策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3292E"/>
                </a:solidFill>
                <a:latin typeface="MiSans"/>
                <a:ea typeface="MiSans"/>
              </a:rPr>
              <a:t>点 2b：语义库容量与推理参数调优——SLO 下成本最小化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711200" y="1168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5" name="var-label"/>
          <p:cNvSpPr txBox="1"/>
          <p:nvPr/>
        </p:nvSpPr>
        <p:spPr>
          <a:xfrm>
            <a:off x="711200" y="14732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5F6B72"/>
                </a:solidFill>
                <a:latin typeface="MiSans"/>
                <a:ea typeface="MiSans"/>
              </a:rPr>
              <a:t>决策变量（三个）</a:t>
            </a:r>
            <a:endParaRPr lang="en-US" sz="1300" noProof="1"/>
          </a:p>
        </p:txBody>
      </p:sp>
      <p:sp>
        <p:nvSpPr>
          <p:cNvPr id="6" name="var1-box"/>
          <p:cNvSpPr/>
          <p:nvPr/>
        </p:nvSpPr>
        <p:spPr>
          <a:xfrm>
            <a:off x="711200" y="1803400"/>
            <a:ext cx="3048000" cy="533400"/>
          </a:xfrm>
          <a:prstGeom prst="rect">
            <a:avLst/>
          </a:prstGeom>
          <a:solidFill>
            <a:srgbClr val="F2F5F0"/>
          </a:solidFill>
          <a:ln>
            <a:noFill/>
          </a:ln>
        </p:spPr>
      </p:sp>
      <p:sp>
        <p:nvSpPr>
          <p:cNvPr id="7" name="var1-t"/>
          <p:cNvSpPr txBox="1"/>
          <p:nvPr/>
        </p:nvSpPr>
        <p:spPr>
          <a:xfrm>
            <a:off x="863600" y="1803400"/>
            <a:ext cx="28702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50" noProof="1">
                <a:solidFill>
                  <a:srgbClr val="23292E"/>
                </a:solidFill>
                <a:latin typeface="MiSans"/>
                <a:ea typeface="MiSans"/>
              </a:rPr>
              <a:t>S｜语义库缓存容量</a:t>
            </a:r>
            <a:endParaRPr lang="en-US" sz="1150" noProof="1"/>
          </a:p>
        </p:txBody>
      </p:sp>
      <p:sp>
        <p:nvSpPr>
          <p:cNvPr id="8" name="var2-box"/>
          <p:cNvSpPr/>
          <p:nvPr/>
        </p:nvSpPr>
        <p:spPr>
          <a:xfrm>
            <a:off x="711200" y="2463800"/>
            <a:ext cx="3048000" cy="533400"/>
          </a:xfrm>
          <a:prstGeom prst="rect">
            <a:avLst/>
          </a:prstGeom>
          <a:solidFill>
            <a:srgbClr val="F2F5F0"/>
          </a:solidFill>
          <a:ln>
            <a:noFill/>
          </a:ln>
        </p:spPr>
      </p:sp>
      <p:sp>
        <p:nvSpPr>
          <p:cNvPr id="9" name="var2-t"/>
          <p:cNvSpPr txBox="1"/>
          <p:nvPr/>
        </p:nvSpPr>
        <p:spPr>
          <a:xfrm>
            <a:off x="863600" y="2463800"/>
            <a:ext cx="28702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50" noProof="1">
                <a:solidFill>
                  <a:srgbClr val="23292E"/>
                </a:solidFill>
                <a:latin typeface="MiSans"/>
                <a:ea typeface="MiSans"/>
              </a:rPr>
              <a:t>p｜推理算子并行度（Flink）</a:t>
            </a:r>
            <a:endParaRPr lang="en-US" sz="1150" noProof="1"/>
          </a:p>
        </p:txBody>
      </p:sp>
      <p:sp>
        <p:nvSpPr>
          <p:cNvPr id="10" name="var3-box"/>
          <p:cNvSpPr/>
          <p:nvPr/>
        </p:nvSpPr>
        <p:spPr>
          <a:xfrm>
            <a:off x="711200" y="3124200"/>
            <a:ext cx="3048000" cy="533400"/>
          </a:xfrm>
          <a:prstGeom prst="rect">
            <a:avLst/>
          </a:prstGeom>
          <a:solidFill>
            <a:srgbClr val="F2F5F0"/>
          </a:solidFill>
          <a:ln>
            <a:noFill/>
          </a:ln>
        </p:spPr>
      </p:sp>
      <p:sp>
        <p:nvSpPr>
          <p:cNvPr id="11" name="var3-t"/>
          <p:cNvSpPr txBox="1"/>
          <p:nvPr/>
        </p:nvSpPr>
        <p:spPr>
          <a:xfrm>
            <a:off x="863600" y="3124200"/>
            <a:ext cx="28702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50" noProof="1">
                <a:solidFill>
                  <a:srgbClr val="23292E"/>
                </a:solidFill>
                <a:latin typeface="MiSans"/>
                <a:ea typeface="MiSans"/>
              </a:rPr>
              <a:t>b｜推理批次大小</a:t>
            </a:r>
            <a:endParaRPr lang="en-US" sz="1150" noProof="1"/>
          </a:p>
        </p:txBody>
      </p:sp>
      <p:sp>
        <p:nvSpPr>
          <p:cNvPr id="12" name="goal-text"/>
          <p:cNvSpPr txBox="1"/>
          <p:nvPr/>
        </p:nvSpPr>
        <p:spPr>
          <a:xfrm>
            <a:off x="711200" y="3962400"/>
            <a:ext cx="3302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200" noProof="1" b="1">
                <a:solidFill>
                  <a:srgbClr val="23292E"/>
                </a:solidFill>
                <a:latin typeface="MiSans"/>
                <a:ea typeface="MiSans"/>
              </a:rPr>
              <a:t>调优目标</a:t>
            </a:r>
            <a:r>
              <a:rPr lang="en-US" sz="1200" noProof="1">
                <a:solidFill>
                  <a:srgbClr val="5F6B72"/>
                </a:solidFill>
                <a:latin typeface="MiSans"/>
                <a:ea typeface="MiSans"/>
              </a:rPr>
              <a:t>：满足 SLO（时延＋错误率）的前提下，最小化缓存容量与并行度，降低成本；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5F6B72"/>
                </a:solidFill>
                <a:latin typeface="MiSans"/>
                <a:ea typeface="MiSans"/>
              </a:rPr>
              <a:t>负载上升时提升容量与并行度，尽可能满足 SLO；</a:t>
            </a:r>
            <a:endParaRPr lang="en-US" sz="120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5F6B72"/>
                </a:solidFill>
                <a:latin typeface="MiSans"/>
                <a:ea typeface="MiSans"/>
              </a:rPr>
              <a:t>每次调整都显式</a:t>
            </a:r>
            <a:r>
              <a:rPr lang="en-US" sz="1200" noProof="1" b="1">
                <a:solidFill>
                  <a:srgbClr val="23292E"/>
                </a:solidFill>
                <a:latin typeface="MiSans"/>
                <a:ea typeface="MiSans"/>
              </a:rPr>
              <a:t>评估扩缩容开销</a:t>
            </a:r>
            <a:r>
              <a:rPr lang="en-US" sz="1200" noProof="1">
                <a:solidFill>
                  <a:srgbClr val="5F6B72"/>
                </a:solidFill>
                <a:latin typeface="MiSans"/>
                <a:ea typeface="MiSans"/>
              </a:rPr>
              <a:t>。</a:t>
            </a:r>
            <a:endParaRPr lang="en-US" sz="1200" noProof="1"/>
          </a:p>
        </p:txBody>
      </p:sp>
      <p:sp>
        <p:nvSpPr>
          <p:cNvPr id="13" name="tn-monitor"/>
          <p:cNvSpPr/>
          <p:nvPr/>
        </p:nvSpPr>
        <p:spPr>
          <a:xfrm>
            <a:off x="6604000" y="1473200"/>
            <a:ext cx="3048000" cy="558800"/>
          </a:xfrm>
          <a:prstGeom prst="roundRect">
            <a:avLst>
              <a:gd name="adj" fmla="val 10000"/>
            </a:avLst>
          </a:prstGeom>
          <a:solidFill>
            <a:srgbClr val="E4EEE9"/>
          </a:solidFill>
          <a:ln w="12700">
            <a:solidFill>
              <a:srgbClr val="155E52"/>
            </a:solidFill>
          </a:ln>
        </p:spPr>
      </p:sp>
      <p:sp>
        <p:nvSpPr>
          <p:cNvPr id="14" name="tn-monitor-t"/>
          <p:cNvSpPr txBox="1"/>
          <p:nvPr/>
        </p:nvSpPr>
        <p:spPr>
          <a:xfrm>
            <a:off x="6705600" y="15240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 b="1">
                <a:solidFill>
                  <a:srgbClr val="155E52"/>
                </a:solidFill>
                <a:latin typeface="MiSans"/>
                <a:ea typeface="MiSans"/>
              </a:rPr>
              <a:t>监测 SLO 达成（时延 / 错误率）</a:t>
            </a:r>
            <a:endParaRPr lang="en-US" sz="1150" noProof="1"/>
          </a:p>
        </p:txBody>
      </p:sp>
      <p:sp>
        <p:nvSpPr>
          <p:cNvPr id="15" name="tn-arr-m"/>
          <p:cNvSpPr/>
          <p:nvPr>
            <p:extLst>
              <p:ext uri="{F5677B7D-0D2A-4D9B-9A5C-6D8D7D0E5A5D}">
                <pptd:line encoding="base64url">eyJ2aWV3Qm94IjpbNCwzMF0sInBvaW50cyI6IjIsMCAyLDMwIn0</pptd:line>
              </p:ext>
            </p:extLst>
          </p:nvPr>
        </p:nvSpPr>
        <p:spPr>
          <a:xfrm>
            <a:off x="8102600" y="2057400"/>
            <a:ext cx="50800" cy="381000"/>
          </a:xfrm>
          <a:custGeom>
            <a:avLst/>
            <a:gdLst/>
            <a:ahLst/>
            <a:cxnLst/>
            <a:rect l="l" t="t" r="r" b="b"/>
            <a:pathLst>
              <a:path w="4" h="30">
                <a:moveTo>
                  <a:pt x="2" y="0"/>
                </a:moveTo>
                <a:lnTo>
                  <a:pt x="2" y="30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16" name="tn-diamond"/>
          <p:cNvSpPr/>
          <p:nvPr/>
        </p:nvSpPr>
        <p:spPr>
          <a:xfrm>
            <a:off x="7239000" y="2463800"/>
            <a:ext cx="1778000" cy="1219200"/>
          </a:xfrm>
          <a:prstGeom prst="diamond">
            <a:avLst/>
          </a:prstGeom>
          <a:solidFill>
            <a:srgbClr val="E4EEE9"/>
          </a:solidFill>
          <a:ln w="15240">
            <a:solidFill>
              <a:srgbClr val="155E52"/>
            </a:solidFill>
          </a:ln>
        </p:spPr>
      </p:sp>
      <p:sp>
        <p:nvSpPr>
          <p:cNvPr id="17" name="tn-diamond-t"/>
          <p:cNvSpPr txBox="1"/>
          <p:nvPr/>
        </p:nvSpPr>
        <p:spPr>
          <a:xfrm>
            <a:off x="7416800" y="2743200"/>
            <a:ext cx="1422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23292E"/>
                </a:solidFill>
                <a:latin typeface="MiSans"/>
                <a:ea typeface="MiSans"/>
              </a:rPr>
              <a:t>当前配置满足 SLO？</a:t>
            </a:r>
            <a:endParaRPr lang="en-US" sz="1000" noProof="1"/>
          </a:p>
        </p:txBody>
      </p:sp>
      <p:sp>
        <p:nvSpPr>
          <p:cNvPr id="18" name="tn-yes-label"/>
          <p:cNvSpPr txBox="1"/>
          <p:nvPr/>
        </p:nvSpPr>
        <p:spPr>
          <a:xfrm>
            <a:off x="6604000" y="26162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55E52"/>
                </a:solidFill>
                <a:latin typeface="MiSans"/>
                <a:ea typeface="MiSans"/>
              </a:rPr>
              <a:t>满足</a:t>
            </a:r>
            <a:endParaRPr lang="en-US" sz="1100" noProof="1"/>
          </a:p>
        </p:txBody>
      </p:sp>
      <p:sp>
        <p:nvSpPr>
          <p:cNvPr id="19" name="tn-arr-yes"/>
          <p:cNvSpPr/>
          <p:nvPr>
            <p:extLst>
              <p:ext uri="{F5677B7D-0D2A-4D9B-9A5C-6D8D7D0E5A5D}">
                <pptd:line encoding="base64url">eyJ2aWV3Qm94IjpbNzYsOF0sInBvaW50cyI6Ijc2LDQgMCw0In0</pptd:line>
              </p:ext>
            </p:extLst>
          </p:nvPr>
        </p:nvSpPr>
        <p:spPr>
          <a:xfrm>
            <a:off x="6223000" y="3022600"/>
            <a:ext cx="965200" cy="101600"/>
          </a:xfrm>
          <a:custGeom>
            <a:avLst/>
            <a:gdLst/>
            <a:ahLst/>
            <a:cxnLst/>
            <a:rect l="l" t="t" r="r" b="b"/>
            <a:pathLst>
              <a:path w="76" h="8">
                <a:moveTo>
                  <a:pt x="76" y="4"/>
                </a:moveTo>
                <a:lnTo>
                  <a:pt x="0" y="4"/>
                </a:lnTo>
              </a:path>
            </a:pathLst>
          </a:custGeom>
          <a:noFill/>
          <a:ln w="19050" cap="rnd">
            <a:solidFill>
              <a:srgbClr val="155E52"/>
            </a:solidFill>
            <a:round/>
            <a:tailEnd type="stealth"/>
          </a:ln>
        </p:spPr>
      </p:sp>
      <p:sp>
        <p:nvSpPr>
          <p:cNvPr id="20" name="tn-shrink"/>
          <p:cNvSpPr/>
          <p:nvPr/>
        </p:nvSpPr>
        <p:spPr>
          <a:xfrm>
            <a:off x="4267200" y="2616200"/>
            <a:ext cx="1905000" cy="914400"/>
          </a:xfrm>
          <a:prstGeom prst="roundRect">
            <a:avLst>
              <a:gd name="adj" fmla="val 10000"/>
            </a:avLst>
          </a:prstGeom>
          <a:solidFill>
            <a:srgbClr val="F2F5F0"/>
          </a:solidFill>
          <a:ln w="12700">
            <a:solidFill>
              <a:srgbClr val="155E52"/>
            </a:solidFill>
          </a:ln>
        </p:spPr>
      </p:sp>
      <p:sp>
        <p:nvSpPr>
          <p:cNvPr id="21" name="tn-shrink-t"/>
          <p:cNvSpPr txBox="1"/>
          <p:nvPr/>
        </p:nvSpPr>
        <p:spPr>
          <a:xfrm>
            <a:off x="4343400" y="2667000"/>
            <a:ext cx="17526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000" noProof="1">
                <a:solidFill>
                  <a:srgbClr val="23292E"/>
                </a:solidFill>
                <a:latin typeface="MiSans"/>
                <a:ea typeface="MiSans"/>
              </a:rPr>
              <a:t>逐步缩容 S / p / b降低成本；不再满足时回退上一档</a:t>
            </a:r>
            <a:endParaRPr lang="en-US" sz="1000" noProof="1"/>
          </a:p>
        </p:txBody>
      </p:sp>
      <p:sp>
        <p:nvSpPr>
          <p:cNvPr id="22" name="tn-no-label"/>
          <p:cNvSpPr txBox="1"/>
          <p:nvPr/>
        </p:nvSpPr>
        <p:spPr>
          <a:xfrm>
            <a:off x="9093200" y="261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C9752F"/>
                </a:solidFill>
                <a:latin typeface="MiSans"/>
                <a:ea typeface="MiSans"/>
              </a:rPr>
              <a:t>不满足</a:t>
            </a:r>
            <a:endParaRPr lang="en-US" sz="1100" noProof="1"/>
          </a:p>
        </p:txBody>
      </p:sp>
      <p:sp>
        <p:nvSpPr>
          <p:cNvPr id="23" name="tn-arr-no"/>
          <p:cNvSpPr/>
          <p:nvPr>
            <p:extLst>
              <p:ext uri="{F5677B7D-0D2A-4D9B-9A5C-6D8D7D0E5A5D}">
                <pptd:line encoding="base64url">eyJ2aWV3Qm94IjpbNDAsOF0sInBvaW50cyI6IjAsNCA0MCw0In0</pptd:line>
              </p:ext>
            </p:extLst>
          </p:nvPr>
        </p:nvSpPr>
        <p:spPr>
          <a:xfrm>
            <a:off x="9067800" y="3022600"/>
            <a:ext cx="508000" cy="101600"/>
          </a:xfrm>
          <a:custGeom>
            <a:avLst/>
            <a:gdLst/>
            <a:ahLst/>
            <a:cxnLst/>
            <a:rect l="l" t="t" r="r" b="b"/>
            <a:pathLst>
              <a:path w="40" h="8">
                <a:moveTo>
                  <a:pt x="0" y="4"/>
                </a:moveTo>
                <a:lnTo>
                  <a:pt x="40" y="4"/>
                </a:lnTo>
              </a:path>
            </a:pathLst>
          </a:custGeom>
          <a:noFill/>
          <a:ln w="19050" cap="rnd">
            <a:solidFill>
              <a:srgbClr val="C9752F"/>
            </a:solidFill>
            <a:round/>
            <a:tailEnd type="stealth"/>
          </a:ln>
        </p:spPr>
      </p:sp>
      <p:sp>
        <p:nvSpPr>
          <p:cNvPr id="24" name="tn-expand"/>
          <p:cNvSpPr/>
          <p:nvPr/>
        </p:nvSpPr>
        <p:spPr>
          <a:xfrm>
            <a:off x="9626600" y="2616200"/>
            <a:ext cx="1854200" cy="914400"/>
          </a:xfrm>
          <a:prstGeom prst="roundRect">
            <a:avLst>
              <a:gd name="adj" fmla="val 10000"/>
            </a:avLst>
          </a:prstGeom>
          <a:solidFill>
            <a:srgbClr val="F2F5F0"/>
          </a:solidFill>
          <a:ln w="12700">
            <a:solidFill>
              <a:srgbClr val="C9752F"/>
            </a:solidFill>
          </a:ln>
        </p:spPr>
      </p:sp>
      <p:sp>
        <p:nvSpPr>
          <p:cNvPr id="25" name="tn-expand-t"/>
          <p:cNvSpPr txBox="1"/>
          <p:nvPr/>
        </p:nvSpPr>
        <p:spPr>
          <a:xfrm>
            <a:off x="9702800" y="2667000"/>
            <a:ext cx="1701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000" noProof="1">
                <a:solidFill>
                  <a:srgbClr val="23292E"/>
                </a:solidFill>
                <a:latin typeface="MiSans"/>
                <a:ea typeface="MiSans"/>
              </a:rPr>
              <a:t>扩容 S / p / b直到重新满足 SLO</a:t>
            </a:r>
            <a:endParaRPr lang="en-US" sz="1000" noProof="1"/>
          </a:p>
        </p:txBody>
      </p:sp>
      <p:sp>
        <p:nvSpPr>
          <p:cNvPr id="26" name="tn-arr-e1"/>
          <p:cNvSpPr/>
          <p:nvPr>
            <p:extLst>
              <p:ext uri="{F5677B7D-0D2A-4D9B-9A5C-6D8D7D0E5A5D}">
                <pptd:line encoding="base64url">eyJ2aWV3Qm94IjpbNCw0Ml0sInBvaW50cyI6IjIsMCAyLDQyIn0</pptd:line>
              </p:ext>
            </p:extLst>
          </p:nvPr>
        </p:nvSpPr>
        <p:spPr>
          <a:xfrm>
            <a:off x="5194300" y="3556000"/>
            <a:ext cx="50800" cy="533400"/>
          </a:xfrm>
          <a:custGeom>
            <a:avLst/>
            <a:gdLst/>
            <a:ahLst/>
            <a:cxnLst/>
            <a:rect l="l" t="t" r="r" b="b"/>
            <a:pathLst>
              <a:path w="4" h="42">
                <a:moveTo>
                  <a:pt x="2" y="0"/>
                </a:moveTo>
                <a:lnTo>
                  <a:pt x="2" y="42"/>
                </a:lnTo>
              </a:path>
            </a:pathLst>
          </a:custGeom>
          <a:noFill/>
          <a:ln w="15240" cap="rnd">
            <a:solidFill>
              <a:srgbClr val="9AA5A1"/>
            </a:solidFill>
            <a:round/>
            <a:tailEnd type="stealth"/>
          </a:ln>
        </p:spPr>
      </p:sp>
      <p:sp>
        <p:nvSpPr>
          <p:cNvPr id="27" name="tn-arr-e2"/>
          <p:cNvSpPr/>
          <p:nvPr>
            <p:extLst>
              <p:ext uri="{F5677B7D-0D2A-4D9B-9A5C-6D8D7D0E5A5D}">
                <pptd:line encoding="base64url">eyJ2aWV3Qm94IjpbNCw0Ml0sInBvaW50cyI6IjIsMCAyLDQyIn0</pptd:line>
              </p:ext>
            </p:extLst>
          </p:nvPr>
        </p:nvSpPr>
        <p:spPr>
          <a:xfrm>
            <a:off x="10464800" y="3556000"/>
            <a:ext cx="50800" cy="533400"/>
          </a:xfrm>
          <a:custGeom>
            <a:avLst/>
            <a:gdLst/>
            <a:ahLst/>
            <a:cxnLst/>
            <a:rect l="l" t="t" r="r" b="b"/>
            <a:pathLst>
              <a:path w="4" h="42">
                <a:moveTo>
                  <a:pt x="2" y="0"/>
                </a:moveTo>
                <a:lnTo>
                  <a:pt x="2" y="42"/>
                </a:lnTo>
              </a:path>
            </a:pathLst>
          </a:custGeom>
          <a:noFill/>
          <a:ln w="15240" cap="rnd">
            <a:solidFill>
              <a:srgbClr val="9AA5A1"/>
            </a:solidFill>
            <a:round/>
            <a:tailEnd type="stealth"/>
          </a:ln>
        </p:spPr>
      </p:sp>
      <p:sp>
        <p:nvSpPr>
          <p:cNvPr id="28" name="tn-eval"/>
          <p:cNvSpPr/>
          <p:nvPr/>
        </p:nvSpPr>
        <p:spPr>
          <a:xfrm>
            <a:off x="4267200" y="4140200"/>
            <a:ext cx="7213600" cy="584200"/>
          </a:xfrm>
          <a:prstGeom prst="roundRect">
            <a:avLst>
              <a:gd name="adj" fmla="val 10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29" name="tn-eval-t"/>
          <p:cNvSpPr txBox="1"/>
          <p:nvPr/>
        </p:nvSpPr>
        <p:spPr>
          <a:xfrm>
            <a:off x="4368800" y="4191000"/>
            <a:ext cx="70104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23292E"/>
                </a:solidFill>
                <a:latin typeface="MiSans"/>
                <a:ea typeface="MiSans"/>
              </a:rPr>
              <a:t>评估每次扩缩容的开销（状态迁移 / 重配置成本），计入调优收益</a:t>
            </a:r>
            <a:endParaRPr lang="en-US" sz="1150" noProof="1"/>
          </a:p>
        </p:txBody>
      </p:sp>
      <p:sp>
        <p:nvSpPr>
          <p:cNvPr id="30" name="tn-loop"/>
          <p:cNvSpPr/>
          <p:nvPr>
            <p:extLst>
              <p:ext uri="{F5677B7D-0D2A-4D9B-9A5C-6D8D7D0E5A5D}">
                <pptd:line encoding="base64url">eyJ2aWV3Qm94IjpbMjIwLDIxMV0sInBvaW50cyI6IjM2LDIxMSAwLDIxMSAwLDAgMjIwLDAiLCJjdXJ2ZSI6InNoYXJwIn0</pptd:line>
              </p:ext>
            </p:extLst>
          </p:nvPr>
        </p:nvSpPr>
        <p:spPr>
          <a:xfrm>
            <a:off x="3810000" y="1752600"/>
            <a:ext cx="2794000" cy="2679700"/>
          </a:xfrm>
          <a:custGeom>
            <a:avLst/>
            <a:gdLst/>
            <a:ahLst/>
            <a:cxnLst/>
            <a:rect l="l" t="t" r="r" b="b"/>
            <a:pathLst>
              <a:path w="220" h="211">
                <a:moveTo>
                  <a:pt x="36" y="211"/>
                </a:moveTo>
                <a:lnTo>
                  <a:pt x="0" y="211"/>
                </a:lnTo>
                <a:lnTo>
                  <a:pt x="0" y="0"/>
                </a:lnTo>
                <a:lnTo>
                  <a:pt x="220" y="0"/>
                </a:lnTo>
              </a:path>
            </a:pathLst>
          </a:custGeom>
          <a:noFill/>
          <a:ln w="15240">
            <a:solidFill>
              <a:srgbClr val="9AA5A1"/>
            </a:solidFill>
            <a:prstDash val="dash"/>
            <a:tailEnd type="stealth"/>
          </a:ln>
        </p:spPr>
      </p:sp>
      <p:sp>
        <p:nvSpPr>
          <p:cNvPr id="31" name="tn-caption"/>
          <p:cNvSpPr txBox="1"/>
          <p:nvPr/>
        </p:nvSpPr>
        <p:spPr>
          <a:xfrm>
            <a:off x="4267200" y="4902200"/>
            <a:ext cx="7213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5F6B72"/>
                </a:solidFill>
                <a:latin typeface="MiSans"/>
                <a:ea typeface="MiSans"/>
              </a:rPr>
              <a:t>负载下降 → 缩容降成本；负载上升 → 扩容保 SLO；收敛于「满足 SLO 的最小配置」</a:t>
            </a:r>
            <a:endParaRPr lang="en-US" sz="1050" noProof="1"/>
          </a:p>
        </p:txBody>
      </p:sp>
      <p:sp>
        <p:nvSpPr>
          <p:cNvPr id="32" name="p2b-note"/>
          <p:cNvSpPr txBox="1"/>
          <p:nvPr/>
        </p:nvSpPr>
        <p:spPr>
          <a:xfrm>
            <a:off x="711200" y="6070600"/>
            <a:ext cx="10769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9AA5A1"/>
                </a:solidFill>
                <a:latin typeface="MiSans"/>
                <a:ea typeface="MiSans"/>
              </a:rPr>
              <a:t>容量调优基于小红书缓存替换算法改进；并行度与批次调优利用预测的推理时间（点 1 输出）。</a:t>
            </a:r>
            <a:endParaRPr lang="en-US" sz="1000" noProof="1"/>
          </a:p>
        </p:txBody>
      </p:sp>
      <p:sp>
        <p:nvSpPr>
          <p:cNvPr id="33" name="footer-left"/>
          <p:cNvSpPr txBox="1"/>
          <p:nvPr/>
        </p:nvSpPr>
        <p:spPr>
          <a:xfrm>
            <a:off x="711200" y="6502400"/>
            <a:ext cx="762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毕业设计初版方案 · 面向 SLO 的知识库缓存动态优化的流式 Agent 推理系统</a:t>
            </a:r>
            <a:endParaRPr lang="en-US" sz="900" noProof="1"/>
          </a:p>
        </p:txBody>
      </p:sp>
      <p:sp>
        <p:nvSpPr>
          <p:cNvPr id="34" name="footer-right"/>
          <p:cNvSpPr txBox="1"/>
          <p:nvPr/>
        </p:nvSpPr>
        <p:spPr>
          <a:xfrm>
            <a:off x="10871200" y="65024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12 / 17</a:t>
            </a:r>
            <a:endParaRPr lang="en-US" sz="9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55E52"/>
                </a:solidFill>
                <a:latin typeface="MiSans"/>
                <a:ea typeface="MiSans"/>
              </a:rPr>
              <a:t>04 · 三个研究点 — 点 3 执行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3292E"/>
                </a:solidFill>
                <a:latin typeface="MiSans"/>
                <a:ea typeface="MiSans"/>
              </a:rPr>
              <a:t>点 3a：双路打分的语义库缓存项替换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711200" y="1168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5" name="rp-goal"/>
          <p:cNvSpPr txBox="1"/>
          <p:nvPr/>
        </p:nvSpPr>
        <p:spPr>
          <a:xfrm>
            <a:off x="711200" y="1295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200" noProof="1">
                <a:solidFill>
                  <a:srgbClr val="5F6B72"/>
                </a:solidFill>
                <a:latin typeface="MiSans"/>
                <a:ea typeface="MiSans"/>
              </a:rPr>
              <a:t>目标：在点 2 给定的缓存容量下，决定优先预取哪些、优先保留哪些语义资料，最大化语义命中率，减少检索召回时间、降低端到端时延。（基于中移动项目研究）</a:t>
            </a:r>
            <a:endParaRPr lang="en-US" sz="1200" noProof="1"/>
          </a:p>
        </p:txBody>
      </p:sp>
      <p:sp>
        <p:nvSpPr>
          <p:cNvPr id="6" name="rp-start"/>
          <p:cNvSpPr/>
          <p:nvPr/>
        </p:nvSpPr>
        <p:spPr>
          <a:xfrm>
            <a:off x="711200" y="2667000"/>
            <a:ext cx="1778000" cy="1016000"/>
          </a:xfrm>
          <a:prstGeom prst="roundRect">
            <a:avLst>
              <a:gd name="adj" fmla="val 10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7" name="rp-start-t"/>
          <p:cNvSpPr txBox="1"/>
          <p:nvPr/>
        </p:nvSpPr>
        <p:spPr>
          <a:xfrm>
            <a:off x="787400" y="2743200"/>
            <a:ext cx="16256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050" noProof="1">
                <a:solidFill>
                  <a:srgbClr val="23292E"/>
                </a:solidFill>
                <a:latin typeface="MiSans"/>
                <a:ea typeface="MiSans"/>
              </a:rPr>
              <a:t>候选语义资料（库外新资料＋库内已有资料）</a:t>
            </a:r>
            <a:endParaRPr lang="en-US" sz="1050" noProof="1"/>
          </a:p>
        </p:txBody>
      </p:sp>
      <p:sp>
        <p:nvSpPr>
          <p:cNvPr id="8" name="rp-arr-u"/>
          <p:cNvSpPr/>
          <p:nvPr>
            <p:extLst>
              <p:ext uri="{F5677B7D-0D2A-4D9B-9A5C-6D8D7D0E5A5D}">
                <pptd:line encoding="base64url">eyJ2aWV3Qm94IjpbNjAsNjhdLCJwb2ludHMiOiIwLDY4IDYwLDAiLCJjdXJ2ZSI6InNoYXJwIn0</pptd:line>
              </p:ext>
            </p:extLst>
          </p:nvPr>
        </p:nvSpPr>
        <p:spPr>
          <a:xfrm>
            <a:off x="2489200" y="2311400"/>
            <a:ext cx="762000" cy="863600"/>
          </a:xfrm>
          <a:custGeom>
            <a:avLst/>
            <a:gdLst/>
            <a:ahLst/>
            <a:cxnLst/>
            <a:rect l="l" t="t" r="r" b="b"/>
            <a:pathLst>
              <a:path w="60" h="68">
                <a:moveTo>
                  <a:pt x="0" y="68"/>
                </a:moveTo>
                <a:lnTo>
                  <a:pt x="60" y="0"/>
                </a:lnTo>
              </a:path>
            </a:pathLst>
          </a:custGeom>
          <a:noFill/>
          <a:ln w="16510">
            <a:solidFill>
              <a:srgbClr val="5F6B72"/>
            </a:solidFill>
            <a:tailEnd type="stealth"/>
          </a:ln>
        </p:spPr>
      </p:sp>
      <p:sp>
        <p:nvSpPr>
          <p:cNvPr id="9" name="rp-arr-d"/>
          <p:cNvSpPr/>
          <p:nvPr>
            <p:extLst>
              <p:ext uri="{F5677B7D-0D2A-4D9B-9A5C-6D8D7D0E5A5D}">
                <pptd:line encoding="base64url">eyJ2aWV3Qm94IjpbNjAsNTJdLCJwb2ludHMiOiIwLDAgNjAsNTIiLCJjdXJ2ZSI6InNoYXJwIn0</pptd:line>
              </p:ext>
            </p:extLst>
          </p:nvPr>
        </p:nvSpPr>
        <p:spPr>
          <a:xfrm>
            <a:off x="2489200" y="3327400"/>
            <a:ext cx="762000" cy="660400"/>
          </a:xfrm>
          <a:custGeom>
            <a:avLst/>
            <a:gdLst/>
            <a:ahLst/>
            <a:cxnLst/>
            <a:rect l="l" t="t" r="r" b="b"/>
            <a:pathLst>
              <a:path w="60" h="52">
                <a:moveTo>
                  <a:pt x="0" y="0"/>
                </a:moveTo>
                <a:lnTo>
                  <a:pt x="60" y="52"/>
                </a:lnTo>
              </a:path>
            </a:pathLst>
          </a:custGeom>
          <a:noFill/>
          <a:ln w="16510">
            <a:solidFill>
              <a:srgbClr val="5F6B72"/>
            </a:solidFill>
            <a:tailEnd type="stealth"/>
          </a:ln>
        </p:spPr>
      </p:sp>
      <p:sp>
        <p:nvSpPr>
          <p:cNvPr id="10" name="rp-score-a"/>
          <p:cNvSpPr/>
          <p:nvPr/>
        </p:nvSpPr>
        <p:spPr>
          <a:xfrm>
            <a:off x="3251200" y="1828800"/>
            <a:ext cx="3048000" cy="965200"/>
          </a:xfrm>
          <a:prstGeom prst="roundRect">
            <a:avLst>
              <a:gd name="adj" fmla="val 10000"/>
            </a:avLst>
          </a:prstGeom>
          <a:solidFill>
            <a:srgbClr val="E4EEE9"/>
          </a:solidFill>
          <a:ln w="12700">
            <a:solidFill>
              <a:srgbClr val="155E52"/>
            </a:solidFill>
          </a:ln>
        </p:spPr>
      </p:sp>
      <p:sp>
        <p:nvSpPr>
          <p:cNvPr id="11" name="rp-score-a-t"/>
          <p:cNvSpPr txBox="1"/>
          <p:nvPr/>
        </p:nvSpPr>
        <p:spPr>
          <a:xfrm>
            <a:off x="3352800" y="1905000"/>
            <a:ext cx="2844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00" noProof="1" b="1">
                <a:solidFill>
                  <a:srgbClr val="000000"/>
                </a:solidFill>
                <a:latin typeface="MiSans"/>
                <a:ea typeface="MiSans"/>
              </a:rPr>
              <a:t>路 A｜LightGBM（GPU）</a:t>
            </a:r>
            <a:endParaRPr lang="en-US" sz="1600" noProof="1"/>
          </a:p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000000"/>
                </a:solidFill>
                <a:latin typeface="MiSans"/>
                <a:ea typeface="MiSans"/>
              </a:rPr>
              <a:t>依 prompt、访问间隔等预测访问概率 → 得分 A</a:t>
            </a:r>
            <a:endParaRPr lang="en-US" sz="1600" noProof="1"/>
          </a:p>
        </p:txBody>
      </p:sp>
      <p:sp>
        <p:nvSpPr>
          <p:cNvPr id="12" name="rp-score-b"/>
          <p:cNvSpPr/>
          <p:nvPr/>
        </p:nvSpPr>
        <p:spPr>
          <a:xfrm>
            <a:off x="3251200" y="3505200"/>
            <a:ext cx="3048000" cy="965200"/>
          </a:xfrm>
          <a:prstGeom prst="roundRect">
            <a:avLst>
              <a:gd name="adj" fmla="val 10000"/>
            </a:avLst>
          </a:prstGeom>
          <a:solidFill>
            <a:srgbClr val="E4EEE9"/>
          </a:solidFill>
          <a:ln w="12700">
            <a:solidFill>
              <a:srgbClr val="155E52"/>
            </a:solidFill>
          </a:ln>
        </p:spPr>
      </p:sp>
      <p:sp>
        <p:nvSpPr>
          <p:cNvPr id="13" name="rp-score-b-t"/>
          <p:cNvSpPr txBox="1"/>
          <p:nvPr/>
        </p:nvSpPr>
        <p:spPr>
          <a:xfrm>
            <a:off x="3352800" y="3581400"/>
            <a:ext cx="28448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00" noProof="1" b="1">
                <a:solidFill>
                  <a:srgbClr val="000000"/>
                </a:solidFill>
                <a:latin typeface="MiSans"/>
                <a:ea typeface="MiSans"/>
              </a:rPr>
              <a:t>路 B｜CM Sketch / Cuckoo Filter</a:t>
            </a:r>
            <a:endParaRPr lang="en-US" sz="1600" noProof="1"/>
          </a:p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000000"/>
                </a:solidFill>
                <a:latin typeface="MiSans"/>
                <a:ea typeface="MiSans"/>
              </a:rPr>
              <a:t>依事实访问频次与波动得到访问趋势 → 得分 B</a:t>
            </a:r>
            <a:endParaRPr lang="en-US" sz="1600" noProof="1"/>
          </a:p>
        </p:txBody>
      </p:sp>
      <p:sp>
        <p:nvSpPr>
          <p:cNvPr id="14" name="rp-arr-mu"/>
          <p:cNvSpPr/>
          <p:nvPr>
            <p:extLst>
              <p:ext uri="{F5677B7D-0D2A-4D9B-9A5C-6D8D7D0E5A5D}">
                <pptd:line encoding="base64url">eyJ2aWV3Qm94IjpbNjAsNTJdLCJwb2ludHMiOiIwLDAgNjAsNTIiLCJjdXJ2ZSI6InNoYXJwIn0</pptd:line>
              </p:ext>
            </p:extLst>
          </p:nvPr>
        </p:nvSpPr>
        <p:spPr>
          <a:xfrm>
            <a:off x="6299200" y="2311400"/>
            <a:ext cx="762000" cy="660400"/>
          </a:xfrm>
          <a:custGeom>
            <a:avLst/>
            <a:gdLst/>
            <a:ahLst/>
            <a:cxnLst/>
            <a:rect l="l" t="t" r="r" b="b"/>
            <a:pathLst>
              <a:path w="60" h="52">
                <a:moveTo>
                  <a:pt x="0" y="0"/>
                </a:moveTo>
                <a:lnTo>
                  <a:pt x="60" y="52"/>
                </a:lnTo>
              </a:path>
            </a:pathLst>
          </a:custGeom>
          <a:noFill/>
          <a:ln w="16510">
            <a:solidFill>
              <a:srgbClr val="5F6B72"/>
            </a:solidFill>
            <a:tailEnd type="stealth"/>
          </a:ln>
        </p:spPr>
      </p:sp>
      <p:sp>
        <p:nvSpPr>
          <p:cNvPr id="15" name="rp-arr-md"/>
          <p:cNvSpPr/>
          <p:nvPr>
            <p:extLst>
              <p:ext uri="{F5677B7D-0D2A-4D9B-9A5C-6D8D7D0E5A5D}">
                <pptd:line encoding="base64url">eyJ2aWV3Qm94IjpbNjAsNDhdLCJwb2ludHMiOiIwLDQ4IDYwLDAiLCJjdXJ2ZSI6InNoYXJwIn0</pptd:line>
              </p:ext>
            </p:extLst>
          </p:nvPr>
        </p:nvSpPr>
        <p:spPr>
          <a:xfrm>
            <a:off x="6299200" y="33782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60" h="48">
                <a:moveTo>
                  <a:pt x="0" y="48"/>
                </a:moveTo>
                <a:lnTo>
                  <a:pt x="60" y="0"/>
                </a:lnTo>
              </a:path>
            </a:pathLst>
          </a:custGeom>
          <a:noFill/>
          <a:ln w="16510">
            <a:solidFill>
              <a:srgbClr val="5F6B72"/>
            </a:solidFill>
            <a:tailEnd type="stealth"/>
          </a:ln>
        </p:spPr>
      </p:sp>
      <p:sp>
        <p:nvSpPr>
          <p:cNvPr id="16" name="rp-merge"/>
          <p:cNvSpPr/>
          <p:nvPr/>
        </p:nvSpPr>
        <p:spPr>
          <a:xfrm>
            <a:off x="7061200" y="2667000"/>
            <a:ext cx="1905000" cy="1016000"/>
          </a:xfrm>
          <a:prstGeom prst="roundRect">
            <a:avLst>
              <a:gd name="adj" fmla="val 10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17" name="rp-merge-t"/>
          <p:cNvSpPr txBox="1"/>
          <p:nvPr/>
        </p:nvSpPr>
        <p:spPr>
          <a:xfrm>
            <a:off x="7137400" y="2743200"/>
            <a:ext cx="17526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050" noProof="1">
                <a:solidFill>
                  <a:srgbClr val="23292E"/>
                </a:solidFill>
                <a:latin typeface="MiSans"/>
                <a:ea typeface="MiSans"/>
              </a:rPr>
              <a:t>加权求和w·A ＋ (1−w)·B再归一化</a:t>
            </a:r>
            <a:endParaRPr lang="en-US" sz="1050" noProof="1"/>
          </a:p>
        </p:txBody>
      </p:sp>
      <p:sp>
        <p:nvSpPr>
          <p:cNvPr id="18" name="rp-arr-keep"/>
          <p:cNvSpPr/>
          <p:nvPr>
            <p:extLst>
              <p:ext uri="{F5677B7D-0D2A-4D9B-9A5C-6D8D7D0E5A5D}">
                <pptd:line encoding="base64url">eyJ2aWV3Qm94IjpbMzYsOF0sInBvaW50cyI6IjAsNCAzNiw0In0</pptd:line>
              </p:ext>
            </p:extLst>
          </p:nvPr>
        </p:nvSpPr>
        <p:spPr>
          <a:xfrm>
            <a:off x="9017000" y="3124200"/>
            <a:ext cx="457200" cy="101600"/>
          </a:xfrm>
          <a:custGeom>
            <a:avLst/>
            <a:gdLst/>
            <a:ahLst/>
            <a:cxnLst/>
            <a:rect l="l" t="t" r="r" b="b"/>
            <a:pathLst>
              <a:path w="36" h="8">
                <a:moveTo>
                  <a:pt x="0" y="4"/>
                </a:moveTo>
                <a:lnTo>
                  <a:pt x="36" y="4"/>
                </a:lnTo>
              </a:path>
            </a:pathLst>
          </a:custGeom>
          <a:noFill/>
          <a:ln w="17780" cap="rnd">
            <a:solidFill>
              <a:srgbClr val="5F6B72"/>
            </a:solidFill>
            <a:round/>
            <a:tailEnd type="stealth"/>
          </a:ln>
        </p:spPr>
      </p:sp>
      <p:sp>
        <p:nvSpPr>
          <p:cNvPr id="19" name="rp-keep"/>
          <p:cNvSpPr/>
          <p:nvPr/>
        </p:nvSpPr>
        <p:spPr>
          <a:xfrm>
            <a:off x="9525000" y="2667000"/>
            <a:ext cx="1955800" cy="1016000"/>
          </a:xfrm>
          <a:prstGeom prst="roundRect">
            <a:avLst>
              <a:gd name="adj" fmla="val 10000"/>
            </a:avLst>
          </a:prstGeom>
          <a:solidFill>
            <a:srgbClr val="155E52"/>
          </a:solidFill>
          <a:ln>
            <a:noFill/>
          </a:ln>
        </p:spPr>
      </p:sp>
      <p:sp>
        <p:nvSpPr>
          <p:cNvPr id="20" name="rp-keep-t"/>
          <p:cNvSpPr txBox="1"/>
          <p:nvPr/>
        </p:nvSpPr>
        <p:spPr>
          <a:xfrm>
            <a:off x="9601200" y="2743200"/>
            <a:ext cx="18034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050" noProof="1" b="1">
                <a:solidFill>
                  <a:srgbClr val="FFFFFF"/>
                </a:solidFill>
                <a:latin typeface="MiSans"/>
                <a:ea typeface="MiSans"/>
              </a:rPr>
              <a:t>保留得分最高的 n 个（语义容量内）</a:t>
            </a:r>
            <a:endParaRPr lang="en-US" sz="1050" noProof="1"/>
          </a:p>
        </p:txBody>
      </p:sp>
      <p:sp>
        <p:nvSpPr>
          <p:cNvPr id="21" name="rule1-dot"/>
          <p:cNvSpPr/>
          <p:nvPr/>
        </p:nvSpPr>
        <p:spPr>
          <a:xfrm>
            <a:off x="711200" y="4851400"/>
            <a:ext cx="101600" cy="1016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22" name="rule1-t"/>
          <p:cNvSpPr txBox="1"/>
          <p:nvPr/>
        </p:nvSpPr>
        <p:spPr>
          <a:xfrm>
            <a:off x="965200" y="4775200"/>
            <a:ext cx="1051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3292E"/>
                </a:solidFill>
                <a:latin typeface="MiSans"/>
                <a:ea typeface="MiSans"/>
              </a:rPr>
              <a:t>版本约束：同时考虑语义资料的版本，版本更新则需替换为新版本</a:t>
            </a:r>
            <a:endParaRPr lang="en-US" sz="1200" noProof="1"/>
          </a:p>
        </p:txBody>
      </p:sp>
      <p:sp>
        <p:nvSpPr>
          <p:cNvPr id="23" name="rule2-dot"/>
          <p:cNvSpPr/>
          <p:nvPr/>
        </p:nvSpPr>
        <p:spPr>
          <a:xfrm>
            <a:off x="711200" y="5283200"/>
            <a:ext cx="101600" cy="1016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24" name="rule2-t"/>
          <p:cNvSpPr txBox="1"/>
          <p:nvPr/>
        </p:nvSpPr>
        <p:spPr>
          <a:xfrm>
            <a:off x="965200" y="5207000"/>
            <a:ext cx="1051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3292E"/>
                </a:solidFill>
                <a:latin typeface="MiSans"/>
                <a:ea typeface="MiSans"/>
              </a:rPr>
              <a:t>防抖约束：每次最多替换缓存中已有语义资料的 25%，防止缓存抖动</a:t>
            </a:r>
            <a:endParaRPr lang="en-US" sz="1200" noProof="1"/>
          </a:p>
        </p:txBody>
      </p:sp>
      <p:sp>
        <p:nvSpPr>
          <p:cNvPr id="25" name="rule3-dot"/>
          <p:cNvSpPr/>
          <p:nvPr/>
        </p:nvSpPr>
        <p:spPr>
          <a:xfrm>
            <a:off x="711200" y="5715000"/>
            <a:ext cx="101600" cy="1016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26" name="rule3-t"/>
          <p:cNvSpPr txBox="1"/>
          <p:nvPr/>
        </p:nvSpPr>
        <p:spPr>
          <a:xfrm>
            <a:off x="965200" y="5638800"/>
            <a:ext cx="1051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3292E"/>
                </a:solidFill>
                <a:latin typeface="MiSans"/>
                <a:ea typeface="MiSans"/>
              </a:rPr>
              <a:t>可替换性：打分模型（LightGBM，可换其他集成学习算法）与数据结构（CM Sketch / Cuckoo Filter，可换其他结构）均可替换</a:t>
            </a:r>
            <a:endParaRPr lang="en-US" sz="1200" noProof="1"/>
          </a:p>
        </p:txBody>
      </p:sp>
      <p:sp>
        <p:nvSpPr>
          <p:cNvPr id="27" name="footer-left"/>
          <p:cNvSpPr txBox="1"/>
          <p:nvPr/>
        </p:nvSpPr>
        <p:spPr>
          <a:xfrm>
            <a:off x="711200" y="6502400"/>
            <a:ext cx="762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毕业设计初版方案 · 面向 SLO 的知识库缓存动态优化的流式 Agent 推理系统</a:t>
            </a:r>
            <a:endParaRPr lang="en-US" sz="900" noProof="1"/>
          </a:p>
        </p:txBody>
      </p:sp>
      <p:sp>
        <p:nvSpPr>
          <p:cNvPr id="28" name="footer-right"/>
          <p:cNvSpPr txBox="1"/>
          <p:nvPr/>
        </p:nvSpPr>
        <p:spPr>
          <a:xfrm>
            <a:off x="10871200" y="65024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13 / 17</a:t>
            </a:r>
            <a:endParaRPr lang="en-US" sz="9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55E52"/>
                </a:solidFill>
                <a:latin typeface="MiSans"/>
                <a:ea typeface="MiSans"/>
              </a:rPr>
              <a:t>04 · 三个研究点 — 点 3 执行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3292E"/>
                </a:solidFill>
                <a:latin typeface="MiSans"/>
                <a:ea typeface="MiSans"/>
              </a:rPr>
              <a:t>点 3b：会话亲和性路由——扩缩容时最小化会话迁移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711200" y="1168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5" name="rt-s1"/>
          <p:cNvSpPr/>
          <p:nvPr/>
        </p:nvSpPr>
        <p:spPr>
          <a:xfrm>
            <a:off x="711200" y="1778000"/>
            <a:ext cx="1143000" cy="4318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6" name="rt-s1-t"/>
          <p:cNvSpPr txBox="1"/>
          <p:nvPr/>
        </p:nvSpPr>
        <p:spPr>
          <a:xfrm>
            <a:off x="711200" y="1778000"/>
            <a:ext cx="1143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会话 S1</a:t>
            </a:r>
            <a:endParaRPr lang="en-US" sz="1100" noProof="1"/>
          </a:p>
        </p:txBody>
      </p:sp>
      <p:sp>
        <p:nvSpPr>
          <p:cNvPr id="7" name="rt-s2"/>
          <p:cNvSpPr/>
          <p:nvPr/>
        </p:nvSpPr>
        <p:spPr>
          <a:xfrm>
            <a:off x="711200" y="2489200"/>
            <a:ext cx="1143000" cy="4318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8" name="rt-s2-t"/>
          <p:cNvSpPr txBox="1"/>
          <p:nvPr/>
        </p:nvSpPr>
        <p:spPr>
          <a:xfrm>
            <a:off x="711200" y="2489200"/>
            <a:ext cx="1143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会话 S2</a:t>
            </a:r>
            <a:endParaRPr lang="en-US" sz="1100" noProof="1"/>
          </a:p>
        </p:txBody>
      </p:sp>
      <p:sp>
        <p:nvSpPr>
          <p:cNvPr id="9" name="rt-s3"/>
          <p:cNvSpPr/>
          <p:nvPr/>
        </p:nvSpPr>
        <p:spPr>
          <a:xfrm>
            <a:off x="711200" y="3200400"/>
            <a:ext cx="1143000" cy="4318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10" name="rt-s3-t"/>
          <p:cNvSpPr txBox="1"/>
          <p:nvPr/>
        </p:nvSpPr>
        <p:spPr>
          <a:xfrm>
            <a:off x="711200" y="3200400"/>
            <a:ext cx="1143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会话 S3</a:t>
            </a:r>
            <a:endParaRPr lang="en-US" sz="1100" noProof="1"/>
          </a:p>
        </p:txBody>
      </p:sp>
      <p:sp>
        <p:nvSpPr>
          <p:cNvPr id="11" name="rt-s4"/>
          <p:cNvSpPr/>
          <p:nvPr/>
        </p:nvSpPr>
        <p:spPr>
          <a:xfrm>
            <a:off x="711200" y="3911600"/>
            <a:ext cx="1143000" cy="431800"/>
          </a:xfrm>
          <a:prstGeom prst="roundRect">
            <a:avLst>
              <a:gd name="adj" fmla="val 14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12" name="rt-s4-t"/>
          <p:cNvSpPr txBox="1"/>
          <p:nvPr/>
        </p:nvSpPr>
        <p:spPr>
          <a:xfrm>
            <a:off x="711200" y="3911600"/>
            <a:ext cx="1143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会话 S4</a:t>
            </a:r>
            <a:endParaRPr lang="en-US" sz="1100" noProof="1"/>
          </a:p>
        </p:txBody>
      </p:sp>
      <p:sp>
        <p:nvSpPr>
          <p:cNvPr id="13" name="rt-arr-s1"/>
          <p:cNvSpPr/>
          <p:nvPr>
            <p:extLst>
              <p:ext uri="{F5677B7D-0D2A-4D9B-9A5C-6D8D7D0E5A5D}">
                <pptd:line encoding="base64url">eyJ2aWV3Qm94IjpbODAsNDNdLCJwb2ludHMiOiIwLDAgODAsNDMiLCJjdXJ2ZSI6InNoYXJwIn0</pptd:line>
              </p:ext>
            </p:extLst>
          </p:nvPr>
        </p:nvSpPr>
        <p:spPr>
          <a:xfrm>
            <a:off x="1854200" y="1993900"/>
            <a:ext cx="1016000" cy="546100"/>
          </a:xfrm>
          <a:custGeom>
            <a:avLst/>
            <a:gdLst/>
            <a:ahLst/>
            <a:cxnLst/>
            <a:rect l="l" t="t" r="r" b="b"/>
            <a:pathLst>
              <a:path w="80" h="43">
                <a:moveTo>
                  <a:pt x="0" y="0"/>
                </a:moveTo>
                <a:lnTo>
                  <a:pt x="80" y="43"/>
                </a:lnTo>
              </a:path>
            </a:pathLst>
          </a:custGeom>
          <a:noFill/>
          <a:ln w="13970">
            <a:solidFill>
              <a:srgbClr val="9AA5A1"/>
            </a:solidFill>
            <a:tailEnd type="stealth"/>
          </a:ln>
        </p:spPr>
      </p:sp>
      <p:sp>
        <p:nvSpPr>
          <p:cNvPr id="14" name="rt-arr-s2"/>
          <p:cNvSpPr/>
          <p:nvPr>
            <p:extLst>
              <p:ext uri="{F5677B7D-0D2A-4D9B-9A5C-6D8D7D0E5A5D}">
                <pptd:line encoding="base64url">eyJ2aWV3Qm94IjpbODAsMTFdLCJwb2ludHMiOiIwLDAgODAsMTEiLCJjdXJ2ZSI6InNoYXJwIn0</pptd:line>
              </p:ext>
            </p:extLst>
          </p:nvPr>
        </p:nvSpPr>
        <p:spPr>
          <a:xfrm>
            <a:off x="1854200" y="2705100"/>
            <a:ext cx="1016000" cy="139700"/>
          </a:xfrm>
          <a:custGeom>
            <a:avLst/>
            <a:gdLst/>
            <a:ahLst/>
            <a:cxnLst/>
            <a:rect l="l" t="t" r="r" b="b"/>
            <a:pathLst>
              <a:path w="80" h="11">
                <a:moveTo>
                  <a:pt x="0" y="0"/>
                </a:moveTo>
                <a:lnTo>
                  <a:pt x="80" y="11"/>
                </a:lnTo>
              </a:path>
            </a:pathLst>
          </a:custGeom>
          <a:noFill/>
          <a:ln w="13970">
            <a:solidFill>
              <a:srgbClr val="9AA5A1"/>
            </a:solidFill>
            <a:tailEnd type="stealth"/>
          </a:ln>
        </p:spPr>
      </p:sp>
      <p:sp>
        <p:nvSpPr>
          <p:cNvPr id="15" name="rt-arr-s3"/>
          <p:cNvSpPr/>
          <p:nvPr>
            <p:extLst>
              <p:ext uri="{F5677B7D-0D2A-4D9B-9A5C-6D8D7D0E5A5D}">
                <pptd:line encoding="base64url">eyJ2aWV3Qm94IjpbODAsMTFdLCJwb2ludHMiOiIwLDExIDgwLDAiLCJjdXJ2ZSI6InNoYXJwIn0</pptd:line>
              </p:ext>
            </p:extLst>
          </p:nvPr>
        </p:nvSpPr>
        <p:spPr>
          <a:xfrm>
            <a:off x="1854200" y="3327400"/>
            <a:ext cx="1016000" cy="139700"/>
          </a:xfrm>
          <a:custGeom>
            <a:avLst/>
            <a:gdLst/>
            <a:ahLst/>
            <a:cxnLst/>
            <a:rect l="l" t="t" r="r" b="b"/>
            <a:pathLst>
              <a:path w="80" h="11">
                <a:moveTo>
                  <a:pt x="0" y="11"/>
                </a:moveTo>
                <a:lnTo>
                  <a:pt x="80" y="0"/>
                </a:lnTo>
              </a:path>
            </a:pathLst>
          </a:custGeom>
          <a:noFill/>
          <a:ln w="13970">
            <a:solidFill>
              <a:srgbClr val="9AA5A1"/>
            </a:solidFill>
            <a:tailEnd type="stealth"/>
          </a:ln>
        </p:spPr>
      </p:sp>
      <p:sp>
        <p:nvSpPr>
          <p:cNvPr id="16" name="rt-arr-s4"/>
          <p:cNvSpPr/>
          <p:nvPr>
            <p:extLst>
              <p:ext uri="{F5677B7D-0D2A-4D9B-9A5C-6D8D7D0E5A5D}">
                <pptd:line encoding="base64url">eyJ2aWV3Qm94IjpbODAsNDldLCJwb2ludHMiOiIwLDQ5IDgwLDAiLCJjdXJ2ZSI6InNoYXJwIn0</pptd:line>
              </p:ext>
            </p:extLst>
          </p:nvPr>
        </p:nvSpPr>
        <p:spPr>
          <a:xfrm>
            <a:off x="1854200" y="3505200"/>
            <a:ext cx="1016000" cy="622300"/>
          </a:xfrm>
          <a:custGeom>
            <a:avLst/>
            <a:gdLst/>
            <a:ahLst/>
            <a:cxnLst/>
            <a:rect l="l" t="t" r="r" b="b"/>
            <a:pathLst>
              <a:path w="80" h="49">
                <a:moveTo>
                  <a:pt x="0" y="49"/>
                </a:moveTo>
                <a:lnTo>
                  <a:pt x="80" y="0"/>
                </a:lnTo>
              </a:path>
            </a:pathLst>
          </a:custGeom>
          <a:noFill/>
          <a:ln w="13970">
            <a:solidFill>
              <a:srgbClr val="9AA5A1"/>
            </a:solidFill>
            <a:tailEnd type="stealth"/>
          </a:ln>
        </p:spPr>
      </p:sp>
      <p:sp>
        <p:nvSpPr>
          <p:cNvPr id="17" name="rt-hash"/>
          <p:cNvSpPr/>
          <p:nvPr/>
        </p:nvSpPr>
        <p:spPr>
          <a:xfrm>
            <a:off x="2870200" y="2413000"/>
            <a:ext cx="1778000" cy="1219200"/>
          </a:xfrm>
          <a:prstGeom prst="roundRect">
            <a:avLst>
              <a:gd name="adj" fmla="val 10000"/>
            </a:avLst>
          </a:prstGeom>
          <a:solidFill>
            <a:srgbClr val="E4EEE9"/>
          </a:solidFill>
          <a:ln w="12700">
            <a:solidFill>
              <a:srgbClr val="155E52"/>
            </a:solidFill>
          </a:ln>
        </p:spPr>
      </p:sp>
      <p:sp>
        <p:nvSpPr>
          <p:cNvPr id="18" name="rt-hash-t"/>
          <p:cNvSpPr txBox="1"/>
          <p:nvPr/>
        </p:nvSpPr>
        <p:spPr>
          <a:xfrm>
            <a:off x="2971800" y="2489200"/>
            <a:ext cx="15748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5000"/>
              </a:lnSpc>
            </a:pPr>
            <a:r>
              <a:rPr lang="en-US" sz="1150" noProof="1" b="1">
                <a:solidFill>
                  <a:srgbClr val="155E52"/>
                </a:solidFill>
                <a:latin typeface="MiSans"/>
                <a:ea typeface="MiSans"/>
              </a:rPr>
              <a:t>Session ID一致性哈希</a:t>
            </a:r>
            <a:endParaRPr lang="en-US" sz="1150" noProof="1"/>
          </a:p>
        </p:txBody>
      </p:sp>
      <p:sp>
        <p:nvSpPr>
          <p:cNvPr id="19" name="rt-arr-h1"/>
          <p:cNvSpPr/>
          <p:nvPr>
            <p:extLst>
              <p:ext uri="{F5677B7D-0D2A-4D9B-9A5C-6D8D7D0E5A5D}">
                <pptd:line encoding="base64url">eyJ2aWV3Qm94IjpbNzAsNjBdLCJwb2ludHMiOiIwLDYwIDcwLDAiLCJjdXJ2ZSI6InNoYXJwIn0</pptd:line>
              </p:ext>
            </p:extLst>
          </p:nvPr>
        </p:nvSpPr>
        <p:spPr>
          <a:xfrm>
            <a:off x="4648200" y="2184400"/>
            <a:ext cx="889000" cy="762000"/>
          </a:xfrm>
          <a:custGeom>
            <a:avLst/>
            <a:gdLst/>
            <a:ahLst/>
            <a:cxnLst/>
            <a:rect l="l" t="t" r="r" b="b"/>
            <a:pathLst>
              <a:path w="70" h="60">
                <a:moveTo>
                  <a:pt x="0" y="60"/>
                </a:moveTo>
                <a:lnTo>
                  <a:pt x="70" y="0"/>
                </a:lnTo>
              </a:path>
            </a:pathLst>
          </a:custGeom>
          <a:noFill/>
          <a:ln w="16510">
            <a:solidFill>
              <a:srgbClr val="5F6B72"/>
            </a:solidFill>
            <a:tailEnd type="stealth"/>
          </a:ln>
        </p:spPr>
      </p:sp>
      <p:sp>
        <p:nvSpPr>
          <p:cNvPr id="20" name="rt-arr-h2"/>
          <p:cNvSpPr/>
          <p:nvPr>
            <p:extLst>
              <p:ext uri="{F5677B7D-0D2A-4D9B-9A5C-6D8D7D0E5A5D}">
                <pptd:line encoding="base64url">eyJ2aWV3Qm94IjpbNzAsNDRdLCJwb2ludHMiOiIwLDAgNzAsNDQiLCJjdXJ2ZSI6InNoYXJwIn0</pptd:line>
              </p:ext>
            </p:extLst>
          </p:nvPr>
        </p:nvSpPr>
        <p:spPr>
          <a:xfrm>
            <a:off x="4648200" y="3048000"/>
            <a:ext cx="889000" cy="558800"/>
          </a:xfrm>
          <a:custGeom>
            <a:avLst/>
            <a:gdLst/>
            <a:ahLst/>
            <a:cxnLst/>
            <a:rect l="l" t="t" r="r" b="b"/>
            <a:pathLst>
              <a:path w="70" h="44">
                <a:moveTo>
                  <a:pt x="0" y="0"/>
                </a:moveTo>
                <a:lnTo>
                  <a:pt x="70" y="44"/>
                </a:lnTo>
              </a:path>
            </a:pathLst>
          </a:custGeom>
          <a:noFill/>
          <a:ln w="16510">
            <a:solidFill>
              <a:srgbClr val="5F6B72"/>
            </a:solidFill>
            <a:tailEnd type="stealth"/>
          </a:ln>
        </p:spPr>
      </p:sp>
      <p:sp>
        <p:nvSpPr>
          <p:cNvPr id="21" name="rt-op1"/>
          <p:cNvSpPr/>
          <p:nvPr/>
        </p:nvSpPr>
        <p:spPr>
          <a:xfrm>
            <a:off x="5537200" y="1905000"/>
            <a:ext cx="1651000" cy="558800"/>
          </a:xfrm>
          <a:prstGeom prst="roundRect">
            <a:avLst>
              <a:gd name="adj" fmla="val 10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22" name="rt-op1-t"/>
          <p:cNvSpPr txBox="1"/>
          <p:nvPr/>
        </p:nvSpPr>
        <p:spPr>
          <a:xfrm>
            <a:off x="5537200" y="1905000"/>
            <a:ext cx="165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推理算子实例 1（持有 S1 / S2 状态）</a:t>
            </a:r>
            <a:endParaRPr lang="en-US" sz="1100" noProof="1"/>
          </a:p>
        </p:txBody>
      </p:sp>
      <p:sp>
        <p:nvSpPr>
          <p:cNvPr id="23" name="rt-op2"/>
          <p:cNvSpPr/>
          <p:nvPr/>
        </p:nvSpPr>
        <p:spPr>
          <a:xfrm>
            <a:off x="5537200" y="3302000"/>
            <a:ext cx="1651000" cy="558800"/>
          </a:xfrm>
          <a:prstGeom prst="roundRect">
            <a:avLst>
              <a:gd name="adj" fmla="val 10000"/>
            </a:avLst>
          </a:prstGeom>
          <a:solidFill>
            <a:srgbClr val="F2F5F0"/>
          </a:solidFill>
          <a:ln w="12700">
            <a:solidFill>
              <a:srgbClr val="DDE3DE"/>
            </a:solidFill>
          </a:ln>
        </p:spPr>
      </p:sp>
      <p:sp>
        <p:nvSpPr>
          <p:cNvPr id="24" name="rt-op2-t"/>
          <p:cNvSpPr txBox="1"/>
          <p:nvPr/>
        </p:nvSpPr>
        <p:spPr>
          <a:xfrm>
            <a:off x="5537200" y="3302000"/>
            <a:ext cx="165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23292E"/>
                </a:solidFill>
                <a:latin typeface="MiSans"/>
                <a:ea typeface="MiSans"/>
              </a:rPr>
              <a:t>推理算子实例 2（持有 S3 / S4 状态）</a:t>
            </a:r>
            <a:endParaRPr lang="en-US" sz="1100" noProof="1"/>
          </a:p>
        </p:txBody>
      </p:sp>
      <p:sp>
        <p:nvSpPr>
          <p:cNvPr id="25" name="rt-op3"/>
          <p:cNvSpPr/>
          <p:nvPr/>
        </p:nvSpPr>
        <p:spPr>
          <a:xfrm>
            <a:off x="5537200" y="4572000"/>
            <a:ext cx="1651000" cy="55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9752F"/>
            </a:solidFill>
            <a:prstDash val="dash"/>
          </a:ln>
        </p:spPr>
      </p:sp>
      <p:sp>
        <p:nvSpPr>
          <p:cNvPr id="26" name="rt-op3-t"/>
          <p:cNvSpPr txBox="1"/>
          <p:nvPr/>
        </p:nvSpPr>
        <p:spPr>
          <a:xfrm>
            <a:off x="5537200" y="4572000"/>
            <a:ext cx="165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>
                <a:solidFill>
                  <a:srgbClr val="C9752F"/>
                </a:solidFill>
                <a:latin typeface="MiSans"/>
                <a:ea typeface="MiSans"/>
              </a:rPr>
              <a:t>推理算子实例 3（扩容新增）</a:t>
            </a:r>
            <a:endParaRPr lang="en-US" sz="1100" noProof="1"/>
          </a:p>
        </p:txBody>
      </p:sp>
      <p:sp>
        <p:nvSpPr>
          <p:cNvPr id="27" name="rt-migrate"/>
          <p:cNvSpPr/>
          <p:nvPr>
            <p:extLst>
              <p:ext uri="{F5677B7D-0D2A-4D9B-9A5C-6D8D7D0E5A5D}">
                <pptd:line encoding="base64url">eyJ2aWV3Qm94IjpbNCw1Ml0sInBvaW50cyI6IjIsMCAyLDUyIn0</pptd:line>
              </p:ext>
            </p:extLst>
          </p:nvPr>
        </p:nvSpPr>
        <p:spPr>
          <a:xfrm>
            <a:off x="6337300" y="38862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4" h="52">
                <a:moveTo>
                  <a:pt x="2" y="0"/>
                </a:moveTo>
                <a:lnTo>
                  <a:pt x="2" y="52"/>
                </a:lnTo>
              </a:path>
            </a:pathLst>
          </a:custGeom>
          <a:noFill/>
          <a:ln w="16510" cap="rnd">
            <a:solidFill>
              <a:srgbClr val="C9752F"/>
            </a:solidFill>
            <a:prstDash val="dash"/>
            <a:round/>
            <a:tailEnd type="stealth"/>
          </a:ln>
        </p:spPr>
      </p:sp>
      <p:sp>
        <p:nvSpPr>
          <p:cNvPr id="28" name="rt-migrate-label"/>
          <p:cNvSpPr txBox="1"/>
          <p:nvPr/>
        </p:nvSpPr>
        <p:spPr>
          <a:xfrm>
            <a:off x="6502400" y="40132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950" noProof="1">
                <a:solidFill>
                  <a:srgbClr val="C9752F"/>
                </a:solidFill>
                <a:latin typeface="MiSans"/>
                <a:ea typeface="MiSans"/>
              </a:rPr>
              <a:t>扩容时仅少量会话迁移（如 S4 → 实例 3）</a:t>
            </a:r>
            <a:endParaRPr lang="en-US" sz="950" noProof="1"/>
          </a:p>
        </p:txBody>
      </p:sp>
      <p:sp>
        <p:nvSpPr>
          <p:cNvPr id="29" name="rt-right"/>
          <p:cNvSpPr txBox="1"/>
          <p:nvPr/>
        </p:nvSpPr>
        <p:spPr>
          <a:xfrm>
            <a:off x="8128000" y="1778000"/>
            <a:ext cx="3352800" cy="292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250" noProof="1">
                <a:solidFill>
                  <a:srgbClr val="23292E"/>
                </a:solidFill>
                <a:latin typeface="MiSans"/>
                <a:ea typeface="MiSans"/>
              </a:rPr>
              <a:t>· 根据 </a:t>
            </a:r>
            <a:r>
              <a:rPr lang="en-US" sz="1250" noProof="1" b="1">
                <a:solidFill>
                  <a:srgbClr val="23292E"/>
                </a:solidFill>
                <a:latin typeface="MiSans"/>
                <a:ea typeface="MiSans"/>
              </a:rPr>
              <a:t>Session ID 一致性哈希</a:t>
            </a:r>
            <a:r>
              <a:rPr lang="en-US" sz="1250" noProof="1">
                <a:solidFill>
                  <a:srgbClr val="23292E"/>
                </a:solidFill>
                <a:latin typeface="MiSans"/>
                <a:ea typeface="MiSans"/>
              </a:rPr>
              <a:t>到推理算子</a:t>
            </a:r>
            <a:endParaRPr lang="en-US" sz="125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250" noProof="1">
                <a:solidFill>
                  <a:srgbClr val="23292E"/>
                </a:solidFill>
                <a:latin typeface="MiSans"/>
                <a:ea typeface="MiSans"/>
              </a:rPr>
              <a:t>· 扩缩容时</a:t>
            </a:r>
            <a:r>
              <a:rPr lang="en-US" sz="1250" noProof="1" b="1">
                <a:solidFill>
                  <a:srgbClr val="23292E"/>
                </a:solidFill>
                <a:latin typeface="MiSans"/>
                <a:ea typeface="MiSans"/>
              </a:rPr>
              <a:t>最小化会话迁移</a:t>
            </a:r>
            <a:endParaRPr lang="en-US" sz="125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250" noProof="1">
                <a:solidFill>
                  <a:srgbClr val="23292E"/>
                </a:solidFill>
                <a:latin typeface="MiSans"/>
                <a:ea typeface="MiSans"/>
              </a:rPr>
              <a:t>· 会话自动路由到其</a:t>
            </a:r>
            <a:r>
              <a:rPr lang="en-US" sz="1250" noProof="1" b="1">
                <a:solidFill>
                  <a:srgbClr val="23292E"/>
                </a:solidFill>
                <a:latin typeface="MiSans"/>
                <a:ea typeface="MiSans"/>
              </a:rPr>
              <a:t>会话状态所在的新算子实例</a:t>
            </a:r>
            <a:endParaRPr lang="en-US" sz="1250" noProof="1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250" noProof="1">
                <a:solidFill>
                  <a:srgbClr val="23292E"/>
                </a:solidFill>
                <a:latin typeface="MiSans"/>
                <a:ea typeface="MiSans"/>
              </a:rPr>
              <a:t>· 与点 3a 配合：路由目标即缓存所在位置，保证语义命中</a:t>
            </a:r>
            <a:endParaRPr lang="en-US" sz="1250" noProof="1"/>
          </a:p>
        </p:txBody>
      </p:sp>
      <p:sp>
        <p:nvSpPr>
          <p:cNvPr id="30" name="rt-bar"/>
          <p:cNvSpPr/>
          <p:nvPr/>
        </p:nvSpPr>
        <p:spPr>
          <a:xfrm>
            <a:off x="711200" y="5664200"/>
            <a:ext cx="38100" cy="5334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31" name="rt-note"/>
          <p:cNvSpPr txBox="1"/>
          <p:nvPr/>
        </p:nvSpPr>
        <p:spPr>
          <a:xfrm>
            <a:off x="914400" y="56642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23292E"/>
                </a:solidFill>
                <a:latin typeface="MiSans"/>
                <a:ea typeface="MiSans"/>
              </a:rPr>
              <a:t>一致性哈希保证扩缩容时只有少量会话的映射发生变化；会话状态存于 Operator State，随 checkpoint 容错、随扩缩容可追踪迁移。</a:t>
            </a:r>
            <a:endParaRPr lang="en-US" sz="1300" noProof="1"/>
          </a:p>
        </p:txBody>
      </p:sp>
      <p:sp>
        <p:nvSpPr>
          <p:cNvPr id="32" name="footer-left"/>
          <p:cNvSpPr txBox="1"/>
          <p:nvPr/>
        </p:nvSpPr>
        <p:spPr>
          <a:xfrm>
            <a:off x="711200" y="6502400"/>
            <a:ext cx="762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毕业设计初版方案 · 面向 SLO 的知识库缓存动态优化的流式 Agent 推理系统</a:t>
            </a:r>
            <a:endParaRPr lang="en-US" sz="900" noProof="1"/>
          </a:p>
        </p:txBody>
      </p:sp>
      <p:sp>
        <p:nvSpPr>
          <p:cNvPr id="33" name="footer-right"/>
          <p:cNvSpPr txBox="1"/>
          <p:nvPr/>
        </p:nvSpPr>
        <p:spPr>
          <a:xfrm>
            <a:off x="10871200" y="65024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14 / 17</a:t>
            </a:r>
            <a:endParaRPr lang="en-US" sz="9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55E52"/>
                </a:solidFill>
                <a:latin typeface="MiSans"/>
                <a:ea typeface="MiSans"/>
              </a:rPr>
              <a:t>05 · 可行性与计划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3292E"/>
                </a:solidFill>
                <a:latin typeface="MiSans"/>
                <a:ea typeface="MiSans"/>
              </a:rPr>
              <a:t>可行性：InferTuner 基底提供现成资产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711200" y="1168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graphicFrame>
        <p:nvGraphicFramePr>
          <p:cNvPr id="5" name="asset-table"/>
          <p:cNvGraphicFramePr>
            <a:graphicFrameLocks noGrp="1"/>
          </p:cNvGraphicFramePr>
          <p:nvPr/>
        </p:nvGraphicFramePr>
        <p:xfrm>
          <a:off x="711200" y="1473200"/>
          <a:ext cx="10769600" cy="4064000"/>
        </p:xfrm>
        <a:graphic>
          <a:graphicData uri="http://schemas.openxmlformats.org/drawingml/2006/table">
            <a:tbl>
              <a:tblPr/>
              <a:tblGrid>
                <a:gridCol w="2046224"/>
                <a:gridCol w="4523232"/>
                <a:gridCol w="4200144"/>
              </a:tblGrid>
              <a:tr h="487680"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基底资产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155E5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现状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155E5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>
                        <a:lnSpc>
                          <a:spcPct val="135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本课题复用方式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155E52"/>
                    </a:solidFill>
                  </a:tcPr>
                </a:tc>
              </a:tr>
              <a:tr h="71526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推理时延预测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token 数预测（BGE-m3 embedding＋PCA＋MLP，MAPE 5–13%）＋ 算子级单 token 生成时间 GBDT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点 1 的基础模型与特征工程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526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FREQUENCY 动态缓存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基于访问频率分布动态调整容量，命中率与 P95 时延优于 STATIC / FLUID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频次统计复用为点 3 的访问热度输入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6F8F5"/>
                    </a:solidFill>
                  </a:tcPr>
                </a:tc>
              </a:tr>
              <a:tr h="71526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MCKP 离散择优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并行度 × 批次的组合搜索（DP），SLO 约束下最小化 GPU 数，优于 DS2 / ContTune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点 2 的决策框架，扩展容量 S / 短路阈值变量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526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StateFetcher 算子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keyBy(userId) ＋ Operator State 缓存，随 checkpoint 容错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升级为「语义记忆算子」的天然载体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6F8F5"/>
                    </a:solidFill>
                  </a:tcPr>
                </a:tc>
              </a:tr>
              <a:tr h="71526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 b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实验平台与硬件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Flink 1.17 管线 ＋ vLLM 集成 ＋ 真实流量 trace ＋ 结果绘图脚本；H20-141G / A6000-40G×4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100" noProof="1">
                          <a:solidFill>
                            <a:srgbClr val="23292E"/>
                          </a:solidFill>
                          <a:latin typeface="Times New Roman"/>
                          <a:ea typeface="Times New Roman"/>
                        </a:rPr>
                        <a:t>端到端实验直接复用，2–4 卡满足实验规模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DDE3DE"/>
                      </a:solidFill>
                    </a:lnL>
                    <a:lnR w="12700">
                      <a:solidFill>
                        <a:srgbClr val="DDE3DE"/>
                      </a:solidFill>
                    </a:lnR>
                    <a:lnT w="12700">
                      <a:solidFill>
                        <a:srgbClr val="DDE3DE"/>
                      </a:solidFill>
                    </a:lnT>
                    <a:lnB w="12700">
                      <a:solidFill>
                        <a:srgbClr val="DDE3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onstraint-bar"/>
          <p:cNvSpPr/>
          <p:nvPr/>
        </p:nvSpPr>
        <p:spPr>
          <a:xfrm>
            <a:off x="711200" y="5740400"/>
            <a:ext cx="38100" cy="533400"/>
          </a:xfrm>
          <a:prstGeom prst="rect">
            <a:avLst/>
          </a:prstGeom>
          <a:solidFill>
            <a:srgbClr val="155E52"/>
          </a:solidFill>
          <a:ln>
            <a:noFill/>
          </a:ln>
        </p:spPr>
      </p:sp>
      <p:sp>
        <p:nvSpPr>
          <p:cNvPr id="7" name="constraint-text"/>
          <p:cNvSpPr txBox="1"/>
          <p:nvPr/>
        </p:nvSpPr>
        <p:spPr>
          <a:xfrm>
            <a:off x="914400" y="5740400"/>
            <a:ext cx="105664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300" noProof="1" b="1">
                <a:solidFill>
                  <a:srgbClr val="23292E"/>
                </a:solidFill>
                <a:latin typeface="MiSans"/>
                <a:ea typeface="MiSans"/>
              </a:rPr>
              <a:t>约束条件</a:t>
            </a:r>
            <a:r>
              <a:rPr lang="en-US" sz="1300" noProof="1">
                <a:solidFill>
                  <a:srgbClr val="23292E"/>
                </a:solidFill>
                <a:latin typeface="MiSans"/>
                <a:ea typeface="MiSans"/>
              </a:rPr>
              <a:t>：学术型硕士 · 周期约 4 个月 · 实验资源 2–4 张 GPU —— 三个研究点均在现有平台上增量建设，工作量可控。</a:t>
            </a:r>
            <a:endParaRPr lang="en-US" sz="1300" noProof="1"/>
          </a:p>
        </p:txBody>
      </p:sp>
      <p:sp>
        <p:nvSpPr>
          <p:cNvPr id="8" name="footer-left"/>
          <p:cNvSpPr txBox="1"/>
          <p:nvPr/>
        </p:nvSpPr>
        <p:spPr>
          <a:xfrm>
            <a:off x="711200" y="6502400"/>
            <a:ext cx="762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毕业设计初版方案 · 面向 SLO 的知识库缓存动态优化的流式 Agent 推理系统</a:t>
            </a:r>
            <a:endParaRPr lang="en-US" sz="900" noProof="1"/>
          </a:p>
        </p:txBody>
      </p:sp>
      <p:sp>
        <p:nvSpPr>
          <p:cNvPr id="9" name="footer-right"/>
          <p:cNvSpPr txBox="1"/>
          <p:nvPr/>
        </p:nvSpPr>
        <p:spPr>
          <a:xfrm>
            <a:off x="10871200" y="65024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15 / 17</a:t>
            </a:r>
            <a:endParaRPr lang="en-US" sz="9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381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155E52"/>
                </a:solidFill>
                <a:latin typeface="MiSans"/>
                <a:ea typeface="MiSans"/>
              </a:rPr>
              <a:t>05 · 可行性与计划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23292E"/>
                </a:solidFill>
                <a:latin typeface="MiSans"/>
                <a:ea typeface="MiSans"/>
              </a:rPr>
              <a:t>关键权衡与开放问题</a:t>
            </a:r>
            <a:endParaRPr lang="en-US" sz="2500" noProof="1"/>
          </a:p>
        </p:txBody>
      </p:sp>
      <p:sp>
        <p:nvSpPr>
          <p:cNvPr id="4" name="title-rule"/>
          <p:cNvSpPr/>
          <p:nvPr/>
        </p:nvSpPr>
        <p:spPr>
          <a:xfrm>
            <a:off x="711200" y="1168400"/>
            <a:ext cx="107696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5" name="tradeoff-header"/>
          <p:cNvSpPr txBox="1"/>
          <p:nvPr/>
        </p:nvSpPr>
        <p:spPr>
          <a:xfrm>
            <a:off x="711200" y="1473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b="1">
                <a:solidFill>
                  <a:srgbClr val="155E52"/>
                </a:solidFill>
                <a:latin typeface="MiSans"/>
                <a:ea typeface="MiSans"/>
              </a:rPr>
              <a:t>三组核心权衡（Trade-off）</a:t>
            </a:r>
            <a:endParaRPr lang="en-US" sz="1450" noProof="1"/>
          </a:p>
        </p:txBody>
      </p:sp>
      <p:sp>
        <p:nvSpPr>
          <p:cNvPr id="6" name="tf1-t"/>
          <p:cNvSpPr txBox="1"/>
          <p:nvPr/>
        </p:nvSpPr>
        <p:spPr>
          <a:xfrm>
            <a:off x="711200" y="1930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23292E"/>
                </a:solidFill>
                <a:latin typeface="MiSans"/>
                <a:ea typeface="MiSans"/>
              </a:rPr>
              <a:t>短路节省 GPU　⇄　错误回复风险</a:t>
            </a:r>
            <a:endParaRPr lang="en-US" sz="1350" noProof="1"/>
          </a:p>
        </p:txBody>
      </p:sp>
      <p:sp>
        <p:nvSpPr>
          <p:cNvPr id="7" name="tf1-d"/>
          <p:cNvSpPr txBox="1"/>
          <p:nvPr/>
        </p:nvSpPr>
        <p:spPr>
          <a:xfrm>
            <a:off x="711200" y="2235200"/>
            <a:ext cx="508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F6B72"/>
                </a:solidFill>
                <a:latin typeface="MiSans"/>
                <a:ea typeface="MiSans"/>
              </a:rPr>
              <a:t>阈值 δ 越低越保守（多推理、少短路）；越高越省 GPU 但错误回复越多</a:t>
            </a:r>
            <a:endParaRPr lang="en-US" sz="1150" noProof="1"/>
          </a:p>
        </p:txBody>
      </p:sp>
      <p:sp>
        <p:nvSpPr>
          <p:cNvPr id="8" name="tf1-line"/>
          <p:cNvSpPr/>
          <p:nvPr/>
        </p:nvSpPr>
        <p:spPr>
          <a:xfrm>
            <a:off x="711200" y="2794000"/>
            <a:ext cx="50800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9" name="tf2-t"/>
          <p:cNvSpPr txBox="1"/>
          <p:nvPr/>
        </p:nvSpPr>
        <p:spPr>
          <a:xfrm>
            <a:off x="711200" y="2997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23292E"/>
                </a:solidFill>
                <a:latin typeface="MiSans"/>
                <a:ea typeface="MiSans"/>
              </a:rPr>
              <a:t>语义库容量　⇄　命中率</a:t>
            </a:r>
            <a:endParaRPr lang="en-US" sz="1350" noProof="1"/>
          </a:p>
        </p:txBody>
      </p:sp>
      <p:sp>
        <p:nvSpPr>
          <p:cNvPr id="10" name="tf2-d"/>
          <p:cNvSpPr txBox="1"/>
          <p:nvPr/>
        </p:nvSpPr>
        <p:spPr>
          <a:xfrm>
            <a:off x="711200" y="3302000"/>
            <a:ext cx="508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F6B72"/>
                </a:solidFill>
                <a:latin typeface="MiSans"/>
                <a:ea typeface="MiSans"/>
              </a:rPr>
              <a:t>容量越大命中越高、检索召回越快，但内存成本越高；平衡点随负载移动</a:t>
            </a:r>
            <a:endParaRPr lang="en-US" sz="1150" noProof="1"/>
          </a:p>
        </p:txBody>
      </p:sp>
      <p:sp>
        <p:nvSpPr>
          <p:cNvPr id="11" name="tf2-line"/>
          <p:cNvSpPr/>
          <p:nvPr/>
        </p:nvSpPr>
        <p:spPr>
          <a:xfrm>
            <a:off x="711200" y="3860800"/>
            <a:ext cx="5080000" cy="127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12" name="tf3-t"/>
          <p:cNvSpPr txBox="1"/>
          <p:nvPr/>
        </p:nvSpPr>
        <p:spPr>
          <a:xfrm>
            <a:off x="711200" y="4064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23292E"/>
                </a:solidFill>
                <a:latin typeface="MiSans"/>
                <a:ea typeface="MiSans"/>
              </a:rPr>
              <a:t>扩缩容收益　⇄　调整开销</a:t>
            </a:r>
            <a:endParaRPr lang="en-US" sz="1350" noProof="1"/>
          </a:p>
        </p:txBody>
      </p:sp>
      <p:sp>
        <p:nvSpPr>
          <p:cNvPr id="13" name="tf3-d"/>
          <p:cNvSpPr txBox="1"/>
          <p:nvPr/>
        </p:nvSpPr>
        <p:spPr>
          <a:xfrm>
            <a:off x="711200" y="4368800"/>
            <a:ext cx="508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5F6B72"/>
                </a:solidFill>
                <a:latin typeface="MiSans"/>
                <a:ea typeface="MiSans"/>
              </a:rPr>
              <a:t>状态迁移与重配置成本需被显式评估，避免频繁调整反而违约 SLO</a:t>
            </a:r>
            <a:endParaRPr lang="en-US" sz="1150" noProof="1"/>
          </a:p>
        </p:txBody>
      </p:sp>
      <p:sp>
        <p:nvSpPr>
          <p:cNvPr id="14" name="tf-note"/>
          <p:cNvSpPr txBox="1"/>
          <p:nvPr/>
        </p:nvSpPr>
        <p:spPr>
          <a:xfrm>
            <a:off x="711200" y="50292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150" noProof="1">
                <a:solidFill>
                  <a:srgbClr val="5F6B72"/>
                </a:solidFill>
                <a:latin typeface="MiSans"/>
                <a:ea typeface="MiSans"/>
              </a:rPr>
              <a:t>这三组权衡正是「点 2 联合配置」要在线求解的问题，也是本课题区别于 vCache 等单机工作的核心。</a:t>
            </a:r>
            <a:endParaRPr lang="en-US" sz="1150" noProof="1"/>
          </a:p>
        </p:txBody>
      </p:sp>
      <p:sp>
        <p:nvSpPr>
          <p:cNvPr id="15" name="divider"/>
          <p:cNvSpPr/>
          <p:nvPr/>
        </p:nvSpPr>
        <p:spPr>
          <a:xfrm>
            <a:off x="6197600" y="1473200"/>
            <a:ext cx="12700" cy="4572000"/>
          </a:xfrm>
          <a:prstGeom prst="rect">
            <a:avLst/>
          </a:prstGeom>
          <a:solidFill>
            <a:srgbClr val="DDE3DE"/>
          </a:solidFill>
          <a:ln>
            <a:noFill/>
          </a:ln>
        </p:spPr>
      </p:sp>
      <p:sp>
        <p:nvSpPr>
          <p:cNvPr id="16" name="question-header"/>
          <p:cNvSpPr txBox="1"/>
          <p:nvPr/>
        </p:nvSpPr>
        <p:spPr>
          <a:xfrm>
            <a:off x="6654800" y="1473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b="1">
                <a:solidFill>
                  <a:srgbClr val="C9752F"/>
                </a:solidFill>
                <a:latin typeface="MiSans"/>
                <a:ea typeface="MiSans"/>
              </a:rPr>
              <a:t>想请老师指导的问题</a:t>
            </a:r>
            <a:endParaRPr lang="en-US" sz="1450" noProof="1"/>
          </a:p>
        </p:txBody>
      </p:sp>
      <p:sp>
        <p:nvSpPr>
          <p:cNvPr id="17" name="questions"/>
          <p:cNvSpPr txBox="1"/>
          <p:nvPr/>
        </p:nvSpPr>
        <p:spPr>
          <a:xfrm>
            <a:off x="6654800" y="1905000"/>
            <a:ext cx="4826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250" noProof="1" b="1">
                <a:solidFill>
                  <a:srgbClr val="23292E"/>
                </a:solidFill>
                <a:latin typeface="MiSans"/>
                <a:ea typeface="MiSans"/>
              </a:rPr>
              <a:t>1</a:t>
            </a:r>
            <a:r>
              <a:rPr lang="en-US" sz="1250" noProof="1">
                <a:solidFill>
                  <a:srgbClr val="23292E"/>
                </a:solidFill>
                <a:latin typeface="MiSans"/>
                <a:ea typeface="MiSans"/>
              </a:rPr>
              <a:t>｜研究边界与创新点的表述是否清晰、成立？</a:t>
            </a:r>
            <a:endParaRPr lang="en-US" sz="1250" noProof="1"/>
          </a:p>
          <a:p>
            <a:pPr algn="l">
              <a:lnSpc>
                <a:spcPct val="155000"/>
              </a:lnSpc>
              <a:spcBef>
                <a:spcPts val="1200"/>
              </a:spcBef>
            </a:pPr>
            <a:r>
              <a:rPr lang="en-US" sz="1250" noProof="1" b="1">
                <a:solidFill>
                  <a:srgbClr val="23292E"/>
                </a:solidFill>
                <a:latin typeface="MiSans"/>
                <a:ea typeface="MiSans"/>
              </a:rPr>
              <a:t>2</a:t>
            </a:r>
            <a:r>
              <a:rPr lang="en-US" sz="1250" noProof="1">
                <a:solidFill>
                  <a:srgbClr val="23292E"/>
                </a:solidFill>
                <a:latin typeface="MiSans"/>
                <a:ea typeface="MiSans"/>
              </a:rPr>
              <a:t>｜错误率阈值 δ 应如何设定与实验验证？</a:t>
            </a:r>
            <a:endParaRPr lang="en-US" sz="1250" noProof="1"/>
          </a:p>
          <a:p>
            <a:pPr algn="l">
              <a:lnSpc>
                <a:spcPct val="155000"/>
              </a:lnSpc>
              <a:spcBef>
                <a:spcPts val="1200"/>
              </a:spcBef>
            </a:pPr>
            <a:r>
              <a:rPr lang="en-US" sz="1250" noProof="1" b="1">
                <a:solidFill>
                  <a:srgbClr val="23292E"/>
                </a:solidFill>
                <a:latin typeface="MiSans"/>
                <a:ea typeface="MiSans"/>
              </a:rPr>
              <a:t>3</a:t>
            </a:r>
            <a:r>
              <a:rPr lang="en-US" sz="1250" noProof="1">
                <a:solidFill>
                  <a:srgbClr val="23292E"/>
                </a:solidFill>
                <a:latin typeface="MiSans"/>
                <a:ea typeface="MiSans"/>
              </a:rPr>
              <a:t>｜多轮 Agent 会话 workload 如何构造得更贴近真实？</a:t>
            </a:r>
            <a:endParaRPr lang="en-US" sz="1250" noProof="1"/>
          </a:p>
          <a:p>
            <a:pPr algn="l">
              <a:lnSpc>
                <a:spcPct val="155000"/>
              </a:lnSpc>
              <a:spcBef>
                <a:spcPts val="1200"/>
              </a:spcBef>
            </a:pPr>
            <a:r>
              <a:rPr lang="en-US" sz="1250" noProof="1" b="1">
                <a:solidFill>
                  <a:srgbClr val="23292E"/>
                </a:solidFill>
                <a:latin typeface="MiSans"/>
                <a:ea typeface="MiSans"/>
              </a:rPr>
              <a:t>4</a:t>
            </a:r>
            <a:r>
              <a:rPr lang="en-US" sz="1250" noProof="1">
                <a:solidFill>
                  <a:srgbClr val="23292E"/>
                </a:solidFill>
                <a:latin typeface="MiSans"/>
                <a:ea typeface="MiSans"/>
              </a:rPr>
              <a:t>｜双路打分的权重 w 与调优粒度（频率 / 步长）如何选择？</a:t>
            </a:r>
            <a:endParaRPr lang="en-US" sz="1250" noProof="1"/>
          </a:p>
          <a:p>
            <a:pPr algn="l">
              <a:lnSpc>
                <a:spcPct val="155000"/>
              </a:lnSpc>
              <a:spcBef>
                <a:spcPts val="1200"/>
              </a:spcBef>
            </a:pPr>
            <a:r>
              <a:rPr lang="en-US" sz="1250" noProof="1" b="1">
                <a:solidFill>
                  <a:srgbClr val="23292E"/>
                </a:solidFill>
                <a:latin typeface="MiSans"/>
                <a:ea typeface="MiSans"/>
              </a:rPr>
              <a:t>5</a:t>
            </a:r>
            <a:r>
              <a:rPr lang="en-US" sz="1250" noProof="1">
                <a:solidFill>
                  <a:srgbClr val="23292E"/>
                </a:solidFill>
                <a:latin typeface="MiSans"/>
                <a:ea typeface="MiSans"/>
              </a:rPr>
              <a:t>｜下一步是否先细化点 2 的调优算法与实验矩阵？</a:t>
            </a:r>
            <a:endParaRPr lang="en-US" sz="1250" noProof="1"/>
          </a:p>
        </p:txBody>
      </p:sp>
      <p:sp>
        <p:nvSpPr>
          <p:cNvPr id="18" name="footer-left"/>
          <p:cNvSpPr txBox="1"/>
          <p:nvPr/>
        </p:nvSpPr>
        <p:spPr>
          <a:xfrm>
            <a:off x="711200" y="6502400"/>
            <a:ext cx="762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毕业设计初版方案 · 面向 SLO 的知识库缓存动态优化的流式 Agent 推理系统</a:t>
            </a:r>
            <a:endParaRPr lang="en-US" sz="900" noProof="1"/>
          </a:p>
        </p:txBody>
      </p:sp>
      <p:sp>
        <p:nvSpPr>
          <p:cNvPr id="19" name="footer-right"/>
          <p:cNvSpPr txBox="1"/>
          <p:nvPr/>
        </p:nvSpPr>
        <p:spPr>
          <a:xfrm>
            <a:off x="10871200" y="6502400"/>
            <a:ext cx="6096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AA5A1"/>
                </a:solidFill>
                <a:latin typeface="MiSans"/>
                <a:ea typeface="MiSans"/>
              </a:rPr>
              <a:t>16 / 17</a:t>
            </a:r>
            <a:endParaRPr lang="en-US" sz="9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55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1016000" y="2489200"/>
            <a:ext cx="10160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3000" noProof="1" b="1">
                <a:solidFill>
                  <a:srgbClr val="FFFFFF"/>
                </a:solidFill>
                <a:latin typeface="MiSans"/>
                <a:ea typeface="MiSans"/>
              </a:rPr>
              <a:t>谢谢聆听 · 恳请老师批评指正</a:t>
            </a:r>
            <a:endParaRPr lang="en-US" sz="3000" noProof="1"/>
          </a:p>
        </p:txBody>
      </p:sp>
      <p:sp>
        <p:nvSpPr>
          <p:cNvPr id="3" name="closing-rule"/>
          <p:cNvSpPr/>
          <p:nvPr/>
        </p:nvSpPr>
        <p:spPr>
          <a:xfrm>
            <a:off x="5461000" y="33274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recap"/>
          <p:cNvSpPr txBox="1"/>
          <p:nvPr/>
        </p:nvSpPr>
        <p:spPr>
          <a:xfrm>
            <a:off x="2032000" y="3606800"/>
            <a:ext cx="8128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70000"/>
              </a:lnSpc>
            </a:pPr>
            <a:r>
              <a:rPr lang="en-US" sz="1300" noProof="1">
                <a:solidFill>
                  <a:srgbClr val="FFFFFF">
                    <a:alpha val="80000"/>
                  </a:srgbClr>
                </a:solidFill>
                <a:latin typeface="MiSans"/>
                <a:ea typeface="MiSans"/>
              </a:rPr>
              <a:t>把「语义记忆」装上 Flink 流式推理管线——预测感知 → 联合配置 → 短路执行，在时延与错误率双约束下，用最小资源服务动态多轮会话负载。</a:t>
            </a:r>
            <a:endParaRPr lang="en-US" sz="1300" noProof="1"/>
          </a:p>
        </p:txBody>
      </p:sp>
      <p:sp>
        <p:nvSpPr>
          <p:cNvPr id="5" name="info"/>
          <p:cNvSpPr txBox="1"/>
          <p:nvPr/>
        </p:nvSpPr>
        <p:spPr>
          <a:xfrm>
            <a:off x="1016000" y="5969000"/>
            <a:ext cx="1016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汇报人：×××　·　2026 年 8 月</a:t>
            </a:r>
            <a:endParaRPr lang="en-US" sz="11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Company>Moonshot</Company>
  <Slides>17</Slides>
</Properties>
</file>

<file path=docProps/core.xml><?xml version="1.0" encoding="utf-8"?>
<cp:coreProperties xmlns:dc="http://purl.org/dc/elements/1.1/" xmlns:cp="http://schemas.openxmlformats.org/package/2006/metadata/core-properties">
  <dc:title>毕业设计初版方案讨论 · 面向 SLO 的知识库缓存动态优化的流式 Agent 推理系统</dc:title>
  <dc:subject>毕业设计初版方案讨论 · 面向 SLO 的知识库缓存动态优化的流式 Agent 推理系统</dc:subject>
  <dc:creator>Kimi</dc:creator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>{"Label":"毕业设计初版方案讨论 · 面向 SLO 的知识库缓存动态优化的流式 Agent 推理系统","ContentProducer":"001191110108MACG2KBH8F10000","ProduceID":"proposal","ReservedCode1":"","ContentPropagator":"001191110108MACG2KBH8F20000","PropagateID":"agent:main:main:conversation:34806021-af06-4c56-80dc-6472f34060e1","ReservedCode2":""}</vt:lpwstr>
  </property>
</Properties>
</file>