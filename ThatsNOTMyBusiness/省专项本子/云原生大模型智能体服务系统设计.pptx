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343660" y="679450"/>
            <a:ext cx="8341995" cy="548005"/>
          </a:xfrm>
          <a:prstGeom prst="roundRect">
            <a:avLst/>
          </a:prstGeom>
          <a:solidFill>
            <a:srgbClr val="E8E8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3090545" y="755015"/>
            <a:ext cx="5173980" cy="396875"/>
          </a:xfrm>
          <a:prstGeom prst="roundRect">
            <a:avLst/>
          </a:prstGeom>
          <a:solidFill>
            <a:srgbClr val="F9DCB5"/>
          </a:solidFill>
          <a:ln w="19050">
            <a:solidFill>
              <a:srgbClr val="AA821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</a:rPr>
              <a:t>研制一套面向云原生环境的大模型智能体服务高效运行系统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43025" y="732155"/>
            <a:ext cx="5162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  <a:sym typeface="+mn-ea"/>
              </a:rPr>
              <a:t>总体</a:t>
            </a:r>
            <a:endParaRPr lang="zh-CN" altLang="en-US" sz="1200" b="1">
              <a:solidFill>
                <a:srgbClr val="C00000"/>
              </a:solidFill>
              <a:sym typeface="+mn-ea"/>
            </a:endParaRPr>
          </a:p>
          <a:p>
            <a:r>
              <a:rPr lang="zh-CN" altLang="en-US" sz="1200" b="1">
                <a:solidFill>
                  <a:srgbClr val="C00000"/>
                </a:solidFill>
                <a:sym typeface="+mn-ea"/>
              </a:rPr>
              <a:t>目标</a:t>
            </a:r>
            <a:endParaRPr lang="zh-CN" altLang="en-US" sz="1200" b="1">
              <a:solidFill>
                <a:srgbClr val="C00000"/>
              </a:solidFill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343660" y="1485265"/>
            <a:ext cx="8341995" cy="2239645"/>
          </a:xfrm>
          <a:prstGeom prst="roundRect">
            <a:avLst/>
          </a:prstGeom>
          <a:solidFill>
            <a:srgbClr val="E8E8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43025" y="2261235"/>
            <a:ext cx="5162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 dirty="0">
                <a:solidFill>
                  <a:srgbClr val="C00000"/>
                </a:solidFill>
                <a:sym typeface="+mn-ea"/>
              </a:rPr>
              <a:t>研究</a:t>
            </a:r>
            <a:endParaRPr lang="zh-CN" altLang="en-US" sz="1200" b="1" dirty="0">
              <a:solidFill>
                <a:srgbClr val="C00000"/>
              </a:solidFill>
              <a:sym typeface="+mn-ea"/>
            </a:endParaRPr>
          </a:p>
          <a:p>
            <a:r>
              <a:rPr lang="zh-CN" altLang="en-US" sz="1200" b="1" dirty="0">
                <a:solidFill>
                  <a:srgbClr val="C00000"/>
                </a:solidFill>
                <a:sym typeface="+mn-ea"/>
              </a:rPr>
              <a:t>内容</a:t>
            </a:r>
            <a:endParaRPr lang="zh-CN" altLang="en-US" sz="1200" b="1" dirty="0">
              <a:solidFill>
                <a:srgbClr val="C00000"/>
              </a:solidFill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415030" y="1564005"/>
            <a:ext cx="4589145" cy="730885"/>
          </a:xfrm>
          <a:prstGeom prst="roundRect">
            <a:avLst/>
          </a:prstGeom>
          <a:solidFill>
            <a:srgbClr val="C2E1EB"/>
          </a:solidFill>
          <a:ln w="19050">
            <a:solidFill>
              <a:srgbClr val="3680B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</a:rPr>
              <a:t>系统集成与验证：云原生智能体服务全流程优化系统构建与验证</a:t>
            </a:r>
            <a:endParaRPr lang="zh-CN" altLang="en-US" sz="1200" b="1" dirty="0">
              <a:solidFill>
                <a:schemeClr val="tx1"/>
              </a:solidFill>
            </a:endParaRPr>
          </a:p>
          <a:p>
            <a:pPr algn="ctr"/>
            <a:endParaRPr lang="zh-CN" altLang="en-US" sz="1200" b="1" dirty="0">
              <a:solidFill>
                <a:schemeClr val="tx1"/>
              </a:solidFill>
            </a:endParaRPr>
          </a:p>
          <a:p>
            <a:pPr algn="ctr"/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669030" y="1905000"/>
            <a:ext cx="1840230" cy="301625"/>
          </a:xfrm>
          <a:prstGeom prst="roundRect">
            <a:avLst/>
          </a:prstGeom>
          <a:solidFill>
            <a:srgbClr val="DEE8F1"/>
          </a:solidFill>
          <a:ln w="19050">
            <a:solidFill>
              <a:srgbClr val="7099C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5777230" y="1905000"/>
            <a:ext cx="1840230" cy="301625"/>
          </a:xfrm>
          <a:prstGeom prst="roundRect">
            <a:avLst/>
          </a:prstGeom>
          <a:solidFill>
            <a:srgbClr val="DEE8F1"/>
          </a:solidFill>
          <a:ln w="19050">
            <a:solidFill>
              <a:srgbClr val="7099C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58235" y="1905000"/>
            <a:ext cx="1850390" cy="301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1000" b="1" dirty="0">
                <a:sym typeface="+mn-ea"/>
              </a:rPr>
              <a:t>[</a:t>
            </a:r>
            <a:r>
              <a:rPr lang="zh-CN" altLang="en-US" sz="1000" b="1" dirty="0">
                <a:sym typeface="+mn-ea"/>
              </a:rPr>
              <a:t>部署—运行—推理协同优化</a:t>
            </a:r>
            <a:r>
              <a:rPr lang="en-US" altLang="zh-CN" sz="1000" b="1" dirty="0">
                <a:sym typeface="+mn-ea"/>
              </a:rPr>
              <a:t>]</a:t>
            </a:r>
            <a:endParaRPr lang="en-US" altLang="zh-CN" sz="1000" b="1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777230" y="1899285"/>
            <a:ext cx="183959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200" b="1">
                <a:sym typeface="+mn-ea"/>
              </a:rPr>
              <a:t>[</a:t>
            </a:r>
            <a:r>
              <a:rPr lang="zh-CN" altLang="en-US" sz="1200" b="1">
                <a:sym typeface="+mn-ea"/>
              </a:rPr>
              <a:t>云原生异构资源适配</a:t>
            </a:r>
            <a:r>
              <a:rPr lang="en-US" altLang="zh-CN" sz="1200" b="1">
                <a:sym typeface="+mn-ea"/>
              </a:rPr>
              <a:t>]</a:t>
            </a:r>
            <a:endParaRPr lang="en-US" altLang="zh-CN" sz="1200" b="1"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1818640" y="2546350"/>
            <a:ext cx="2326640" cy="1136650"/>
          </a:xfrm>
          <a:prstGeom prst="roundRect">
            <a:avLst/>
          </a:prstGeom>
          <a:solidFill>
            <a:srgbClr val="C2E1EB"/>
          </a:solidFill>
          <a:ln w="19050">
            <a:solidFill>
              <a:srgbClr val="3680B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1974850" y="3023235"/>
            <a:ext cx="2028190" cy="587375"/>
          </a:xfrm>
          <a:prstGeom prst="roundRect">
            <a:avLst/>
          </a:prstGeom>
          <a:solidFill>
            <a:srgbClr val="DEE8F1"/>
          </a:solidFill>
          <a:ln w="19050">
            <a:solidFill>
              <a:srgbClr val="7099C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316480" y="2987040"/>
            <a:ext cx="16243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 dirty="0">
                <a:sym typeface="+mn-ea"/>
              </a:rPr>
              <a:t>【模型权重分发】</a:t>
            </a:r>
            <a:endParaRPr lang="zh-CN" altLang="en-US" sz="1200" b="1" dirty="0">
              <a:sym typeface="+mn-ea"/>
            </a:endParaRPr>
          </a:p>
          <a:p>
            <a:r>
              <a:rPr lang="zh-CN" altLang="en-US" sz="1200" b="1" dirty="0">
                <a:sym typeface="+mn-ea"/>
              </a:rPr>
              <a:t>【模型快速加载】</a:t>
            </a:r>
            <a:endParaRPr lang="zh-CN" altLang="en-US" sz="1200" b="1" dirty="0">
              <a:sym typeface="+mn-ea"/>
            </a:endParaRPr>
          </a:p>
          <a:p>
            <a:r>
              <a:rPr lang="zh-CN" altLang="en-US" sz="1200" b="1" dirty="0">
                <a:sym typeface="+mn-ea"/>
              </a:rPr>
              <a:t>【模型更新迁移】</a:t>
            </a:r>
            <a:endParaRPr lang="zh-CN" altLang="en-US" sz="1200" b="1" dirty="0"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783715" y="2527300"/>
            <a:ext cx="24009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200" b="1">
                <a:sym typeface="+mn-ea"/>
              </a:rPr>
              <a:t>研究内容一：面向云原生智能体服务的模型部署与分发技术</a:t>
            </a:r>
            <a:endParaRPr lang="zh-CN" altLang="en-US" sz="1200" b="1">
              <a:sym typeface="+mn-ea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596765" y="2536825"/>
            <a:ext cx="2319020" cy="1136650"/>
          </a:xfrm>
          <a:prstGeom prst="roundRect">
            <a:avLst/>
          </a:prstGeom>
          <a:solidFill>
            <a:srgbClr val="C2E1EB"/>
          </a:solidFill>
          <a:ln w="19050">
            <a:solidFill>
              <a:srgbClr val="3680B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4919345" y="3013710"/>
            <a:ext cx="1840230" cy="587375"/>
          </a:xfrm>
          <a:prstGeom prst="roundRect">
            <a:avLst/>
          </a:prstGeom>
          <a:solidFill>
            <a:srgbClr val="DEE8F1"/>
          </a:solidFill>
          <a:ln w="19050">
            <a:solidFill>
              <a:srgbClr val="7099C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867275" y="2977515"/>
            <a:ext cx="20485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>
                <a:sym typeface="+mn-ea"/>
              </a:rPr>
              <a:t>【模型缓存管理】</a:t>
            </a:r>
            <a:endParaRPr lang="zh-CN" altLang="en-US" sz="1200" b="1">
              <a:sym typeface="+mn-ea"/>
            </a:endParaRPr>
          </a:p>
          <a:p>
            <a:r>
              <a:rPr lang="en-US" altLang="zh-CN" sz="1200" b="1">
                <a:sym typeface="+mn-ea"/>
              </a:rPr>
              <a:t>【KVCache </a:t>
            </a:r>
            <a:r>
              <a:rPr lang="zh-CN" altLang="en-US" sz="1200" b="1">
                <a:sym typeface="+mn-ea"/>
              </a:rPr>
              <a:t>复用与调度】</a:t>
            </a:r>
            <a:endParaRPr lang="zh-CN" altLang="en-US" sz="1200" b="1">
              <a:sym typeface="+mn-ea"/>
            </a:endParaRPr>
          </a:p>
          <a:p>
            <a:r>
              <a:rPr lang="zh-CN" altLang="en-US" sz="1200" b="1">
                <a:sym typeface="+mn-ea"/>
              </a:rPr>
              <a:t>【会话状态协同】</a:t>
            </a:r>
            <a:endParaRPr lang="zh-CN" altLang="en-US" sz="1200" b="1"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531360" y="2530475"/>
            <a:ext cx="24701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200" b="1" dirty="0">
                <a:sym typeface="+mn-ea"/>
              </a:rPr>
              <a:t>研究内容二：面向智能体服务的状态感知弹性资源管理技术</a:t>
            </a:r>
            <a:endParaRPr lang="zh-CN" altLang="en-US" sz="1200" b="1" dirty="0"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7312025" y="2527300"/>
            <a:ext cx="2246630" cy="1136650"/>
          </a:xfrm>
          <a:prstGeom prst="roundRect">
            <a:avLst/>
          </a:prstGeom>
          <a:solidFill>
            <a:srgbClr val="C2E1EB"/>
          </a:solidFill>
          <a:ln w="19050">
            <a:solidFill>
              <a:srgbClr val="3680B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7505065" y="3004185"/>
            <a:ext cx="1840230" cy="587375"/>
          </a:xfrm>
          <a:prstGeom prst="roundRect">
            <a:avLst/>
          </a:prstGeom>
          <a:solidFill>
            <a:srgbClr val="DEE8F1"/>
          </a:solidFill>
          <a:ln w="19050">
            <a:solidFill>
              <a:srgbClr val="7099C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441565" y="2967990"/>
            <a:ext cx="18472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>
                <a:sym typeface="+mn-ea"/>
              </a:rPr>
              <a:t>【长上下文推理优化】</a:t>
            </a:r>
            <a:endParaRPr lang="zh-CN" altLang="en-US" sz="1200" b="1">
              <a:sym typeface="+mn-ea"/>
            </a:endParaRPr>
          </a:p>
          <a:p>
            <a:r>
              <a:rPr lang="zh-CN" altLang="en-US" sz="1200" b="1">
                <a:sym typeface="+mn-ea"/>
              </a:rPr>
              <a:t>【重复计算消除】</a:t>
            </a:r>
            <a:endParaRPr lang="zh-CN" altLang="en-US" sz="1200" b="1">
              <a:sym typeface="+mn-ea"/>
            </a:endParaRPr>
          </a:p>
          <a:p>
            <a:r>
              <a:rPr lang="en-US" altLang="zh-CN" sz="1200" b="1">
                <a:sym typeface="+mn-ea"/>
              </a:rPr>
              <a:t>【Prefill/Decode </a:t>
            </a:r>
            <a:r>
              <a:rPr lang="zh-CN" altLang="en-US" sz="1200" b="1">
                <a:sym typeface="+mn-ea"/>
              </a:rPr>
              <a:t>协同】</a:t>
            </a:r>
            <a:endParaRPr lang="zh-CN" altLang="en-US" sz="1200" b="1"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255510" y="2519045"/>
            <a:ext cx="23622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200" b="1">
                <a:sym typeface="+mn-ea"/>
              </a:rPr>
              <a:t>研究内容三：面向智能体场景的大模型推理加速技术</a:t>
            </a:r>
            <a:endParaRPr lang="zh-CN" altLang="en-US" sz="1200" b="1">
              <a:sym typeface="+mn-ea"/>
            </a:endParaRPr>
          </a:p>
        </p:txBody>
      </p:sp>
      <p:sp>
        <p:nvSpPr>
          <p:cNvPr id="31" name="下箭头 30"/>
          <p:cNvSpPr/>
          <p:nvPr/>
        </p:nvSpPr>
        <p:spPr>
          <a:xfrm flipV="1">
            <a:off x="5560060" y="1192530"/>
            <a:ext cx="254000" cy="292100"/>
          </a:xfrm>
          <a:prstGeom prst="downArrow">
            <a:avLst/>
          </a:prstGeom>
          <a:solidFill>
            <a:srgbClr val="F9DCB5"/>
          </a:solidFill>
          <a:ln>
            <a:solidFill>
              <a:srgbClr val="AA821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5814060" y="1183640"/>
            <a:ext cx="8255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>
                <a:sym typeface="+mn-ea"/>
              </a:rPr>
              <a:t>服务支撑</a:t>
            </a:r>
            <a:endParaRPr lang="zh-CN" altLang="en-US" sz="1200" b="1">
              <a:sym typeface="+mn-ea"/>
            </a:endParaRPr>
          </a:p>
        </p:txBody>
      </p:sp>
      <p:sp>
        <p:nvSpPr>
          <p:cNvPr id="33" name="下箭头 32"/>
          <p:cNvSpPr/>
          <p:nvPr/>
        </p:nvSpPr>
        <p:spPr>
          <a:xfrm rot="10800000">
            <a:off x="3658870" y="2319020"/>
            <a:ext cx="231140" cy="186690"/>
          </a:xfrm>
          <a:prstGeom prst="downArrow">
            <a:avLst/>
          </a:prstGeom>
          <a:solidFill>
            <a:srgbClr val="7595C8"/>
          </a:solidFill>
          <a:ln>
            <a:solidFill>
              <a:srgbClr val="367DB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3826510" y="2288540"/>
            <a:ext cx="8255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>
                <a:sym typeface="+mn-ea"/>
              </a:rPr>
              <a:t>技术支撑</a:t>
            </a:r>
            <a:endParaRPr lang="zh-CN" altLang="en-US" sz="1200" b="1"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758815" y="2277110"/>
            <a:ext cx="8255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>
                <a:sym typeface="+mn-ea"/>
              </a:rPr>
              <a:t>技术支撑</a:t>
            </a:r>
            <a:endParaRPr lang="zh-CN" altLang="en-US" sz="1200" b="1"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781925" y="2261235"/>
            <a:ext cx="8255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>
                <a:sym typeface="+mn-ea"/>
              </a:rPr>
              <a:t>技术支撑</a:t>
            </a:r>
            <a:endParaRPr lang="zh-CN" altLang="en-US" sz="1200" b="1">
              <a:sym typeface="+mn-ea"/>
            </a:endParaRPr>
          </a:p>
        </p:txBody>
      </p:sp>
      <p:sp>
        <p:nvSpPr>
          <p:cNvPr id="40" name="左右箭头 39"/>
          <p:cNvSpPr/>
          <p:nvPr/>
        </p:nvSpPr>
        <p:spPr>
          <a:xfrm>
            <a:off x="4170680" y="2865120"/>
            <a:ext cx="371475" cy="218440"/>
          </a:xfrm>
          <a:prstGeom prst="leftRightArrow">
            <a:avLst/>
          </a:prstGeom>
          <a:solidFill>
            <a:srgbClr val="7595C8"/>
          </a:solidFill>
          <a:ln>
            <a:solidFill>
              <a:srgbClr val="367DB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左右箭头 40"/>
          <p:cNvSpPr/>
          <p:nvPr/>
        </p:nvSpPr>
        <p:spPr>
          <a:xfrm>
            <a:off x="6915785" y="2865120"/>
            <a:ext cx="371475" cy="205740"/>
          </a:xfrm>
          <a:prstGeom prst="leftRightArrow">
            <a:avLst/>
          </a:prstGeom>
          <a:solidFill>
            <a:srgbClr val="7595C8"/>
          </a:solidFill>
          <a:ln>
            <a:solidFill>
              <a:srgbClr val="367DB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4135120" y="3069590"/>
            <a:ext cx="5270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>
                <a:sym typeface="+mn-ea"/>
              </a:rPr>
              <a:t>数据</a:t>
            </a:r>
            <a:endParaRPr lang="zh-CN" altLang="en-US" sz="1200" b="1">
              <a:sym typeface="+mn-ea"/>
            </a:endParaRPr>
          </a:p>
          <a:p>
            <a:r>
              <a:rPr lang="zh-CN" altLang="en-US" sz="1200" b="1">
                <a:sym typeface="+mn-ea"/>
              </a:rPr>
              <a:t>驱动</a:t>
            </a:r>
            <a:endParaRPr lang="zh-CN" altLang="en-US" sz="1200" b="1"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864350" y="3029585"/>
            <a:ext cx="5270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>
                <a:sym typeface="+mn-ea"/>
              </a:rPr>
              <a:t>状态感知</a:t>
            </a:r>
            <a:endParaRPr lang="zh-CN" altLang="en-US" sz="1200" b="1">
              <a:sym typeface="+mn-ea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1343025" y="3984625"/>
            <a:ext cx="8342630" cy="621030"/>
          </a:xfrm>
          <a:prstGeom prst="roundRect">
            <a:avLst/>
          </a:prstGeom>
          <a:solidFill>
            <a:srgbClr val="E8E8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1359535" y="4058285"/>
            <a:ext cx="5162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  <a:sym typeface="+mn-ea"/>
              </a:rPr>
              <a:t>科学问题</a:t>
            </a:r>
            <a:endParaRPr lang="zh-CN" altLang="en-US" sz="1200" b="1">
              <a:solidFill>
                <a:srgbClr val="C00000"/>
              </a:solidFill>
              <a:sym typeface="+mn-ea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1833880" y="4084955"/>
            <a:ext cx="2312035" cy="452120"/>
          </a:xfrm>
          <a:prstGeom prst="roundRect">
            <a:avLst/>
          </a:prstGeom>
          <a:solidFill>
            <a:srgbClr val="D5D5D4"/>
          </a:solidFill>
          <a:ln w="19050">
            <a:solidFill>
              <a:srgbClr val="9E9D9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783715" y="4096385"/>
            <a:ext cx="24142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200" b="1">
                <a:sym typeface="+mn-ea"/>
              </a:rPr>
              <a:t>云原生智能体服务如何高效部署与分发？</a:t>
            </a:r>
            <a:endParaRPr lang="zh-CN" altLang="en-US" sz="1200" b="1">
              <a:sym typeface="+mn-ea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4597400" y="4071620"/>
            <a:ext cx="2290445" cy="452120"/>
          </a:xfrm>
          <a:prstGeom prst="roundRect">
            <a:avLst/>
          </a:prstGeom>
          <a:solidFill>
            <a:srgbClr val="D5D5D4"/>
          </a:solidFill>
          <a:ln w="19050">
            <a:solidFill>
              <a:srgbClr val="9E9D9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4587240" y="4076700"/>
            <a:ext cx="24142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200" b="1" dirty="0">
                <a:sym typeface="+mn-ea"/>
              </a:rPr>
              <a:t>智能体服务状态如何与资源协同弹性管理？</a:t>
            </a:r>
            <a:endParaRPr lang="zh-CN" altLang="en-US" sz="1200" b="1" dirty="0">
              <a:sym typeface="+mn-ea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7302500" y="4084955"/>
            <a:ext cx="2256155" cy="452120"/>
          </a:xfrm>
          <a:prstGeom prst="roundRect">
            <a:avLst/>
          </a:prstGeom>
          <a:solidFill>
            <a:srgbClr val="D5D5D4"/>
          </a:solidFill>
          <a:ln w="19050">
            <a:solidFill>
              <a:srgbClr val="9E9D9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7240905" y="4079875"/>
            <a:ext cx="24447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200" b="1">
                <a:sym typeface="+mn-ea"/>
              </a:rPr>
              <a:t>长上下文智能体推理计算如何高效加速？</a:t>
            </a:r>
            <a:endParaRPr lang="zh-CN" altLang="en-US" sz="1200" b="1">
              <a:sym typeface="+mn-ea"/>
            </a:endParaRPr>
          </a:p>
        </p:txBody>
      </p:sp>
      <p:sp>
        <p:nvSpPr>
          <p:cNvPr id="56" name="下箭头 55"/>
          <p:cNvSpPr/>
          <p:nvPr/>
        </p:nvSpPr>
        <p:spPr>
          <a:xfrm rot="10800000">
            <a:off x="5608320" y="2319020"/>
            <a:ext cx="231140" cy="186690"/>
          </a:xfrm>
          <a:prstGeom prst="downArrow">
            <a:avLst/>
          </a:prstGeom>
          <a:solidFill>
            <a:srgbClr val="7595C8"/>
          </a:solidFill>
          <a:ln>
            <a:solidFill>
              <a:srgbClr val="367DB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下箭头 56"/>
          <p:cNvSpPr/>
          <p:nvPr/>
        </p:nvSpPr>
        <p:spPr>
          <a:xfrm rot="10800000">
            <a:off x="7639050" y="2313940"/>
            <a:ext cx="231140" cy="186690"/>
          </a:xfrm>
          <a:prstGeom prst="downArrow">
            <a:avLst/>
          </a:prstGeom>
          <a:solidFill>
            <a:srgbClr val="7595C8"/>
          </a:solidFill>
          <a:ln>
            <a:solidFill>
              <a:srgbClr val="367DB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下箭头 57"/>
          <p:cNvSpPr/>
          <p:nvPr/>
        </p:nvSpPr>
        <p:spPr>
          <a:xfrm rot="10800000">
            <a:off x="2816860" y="3724910"/>
            <a:ext cx="254000" cy="292100"/>
          </a:xfrm>
          <a:prstGeom prst="downArrow">
            <a:avLst/>
          </a:prstGeom>
          <a:solidFill>
            <a:srgbClr val="D5D5D4"/>
          </a:solidFill>
          <a:ln>
            <a:solidFill>
              <a:srgbClr val="9E9D9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3040380" y="3726180"/>
            <a:ext cx="8255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>
                <a:sym typeface="+mn-ea"/>
              </a:rPr>
              <a:t>问题驱动</a:t>
            </a:r>
            <a:endParaRPr lang="zh-CN" altLang="en-US" sz="1200" b="1">
              <a:sym typeface="+mn-ea"/>
            </a:endParaRPr>
          </a:p>
        </p:txBody>
      </p:sp>
      <p:sp>
        <p:nvSpPr>
          <p:cNvPr id="60" name="下箭头 59"/>
          <p:cNvSpPr/>
          <p:nvPr/>
        </p:nvSpPr>
        <p:spPr>
          <a:xfrm rot="10800000">
            <a:off x="5633720" y="3724910"/>
            <a:ext cx="254000" cy="292100"/>
          </a:xfrm>
          <a:prstGeom prst="downArrow">
            <a:avLst/>
          </a:prstGeom>
          <a:solidFill>
            <a:srgbClr val="D5D5D4"/>
          </a:solidFill>
          <a:ln>
            <a:solidFill>
              <a:srgbClr val="9E9D9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5857240" y="3726180"/>
            <a:ext cx="8255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 dirty="0">
                <a:sym typeface="+mn-ea"/>
              </a:rPr>
              <a:t>问题驱动</a:t>
            </a:r>
            <a:endParaRPr lang="zh-CN" altLang="en-US" sz="1200" b="1" dirty="0">
              <a:sym typeface="+mn-ea"/>
            </a:endParaRPr>
          </a:p>
        </p:txBody>
      </p:sp>
      <p:sp>
        <p:nvSpPr>
          <p:cNvPr id="62" name="下箭头 61"/>
          <p:cNvSpPr/>
          <p:nvPr/>
        </p:nvSpPr>
        <p:spPr>
          <a:xfrm rot="10800000">
            <a:off x="8347075" y="3724910"/>
            <a:ext cx="254000" cy="292100"/>
          </a:xfrm>
          <a:prstGeom prst="downArrow">
            <a:avLst/>
          </a:prstGeom>
          <a:solidFill>
            <a:srgbClr val="D5D5D4"/>
          </a:solidFill>
          <a:ln>
            <a:solidFill>
              <a:srgbClr val="9E9D9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8570595" y="3726180"/>
            <a:ext cx="8255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>
                <a:sym typeface="+mn-ea"/>
              </a:rPr>
              <a:t>问题驱动</a:t>
            </a:r>
            <a:endParaRPr lang="zh-CN" altLang="en-US" sz="1200" b="1">
              <a:sym typeface="+mn-e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1343025" y="4873625"/>
            <a:ext cx="8342630" cy="448310"/>
          </a:xfrm>
          <a:prstGeom prst="roundRect">
            <a:avLst/>
          </a:prstGeom>
          <a:solidFill>
            <a:srgbClr val="E8E8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1345565" y="4871085"/>
            <a:ext cx="5162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 dirty="0">
                <a:solidFill>
                  <a:srgbClr val="C00000"/>
                </a:solidFill>
                <a:sym typeface="+mn-ea"/>
              </a:rPr>
              <a:t>技术挑战</a:t>
            </a:r>
            <a:endParaRPr lang="zh-CN" altLang="en-US" sz="1200" b="1" dirty="0">
              <a:solidFill>
                <a:srgbClr val="C00000"/>
              </a:solidFill>
              <a:sym typeface="+mn-ea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1833880" y="4960620"/>
            <a:ext cx="2311400" cy="274955"/>
          </a:xfrm>
          <a:prstGeom prst="roundRect">
            <a:avLst/>
          </a:prstGeom>
          <a:solidFill>
            <a:srgbClr val="FBEBC7"/>
          </a:solidFill>
          <a:ln w="19050">
            <a:solidFill>
              <a:srgbClr val="F0B81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模型体积大且服务启动慢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4597400" y="4959985"/>
            <a:ext cx="2290445" cy="275590"/>
          </a:xfrm>
          <a:prstGeom prst="roundRect">
            <a:avLst/>
          </a:prstGeom>
          <a:solidFill>
            <a:srgbClr val="FBEBC7"/>
          </a:solidFill>
          <a:ln w="19050">
            <a:solidFill>
              <a:srgbClr val="F0B81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状态动态演化且资源配置复杂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7302500" y="4973955"/>
            <a:ext cx="2256155" cy="262255"/>
          </a:xfrm>
          <a:prstGeom prst="roundRect">
            <a:avLst/>
          </a:prstGeom>
          <a:solidFill>
            <a:srgbClr val="FBEBC7"/>
          </a:solidFill>
          <a:ln w="19050">
            <a:solidFill>
              <a:srgbClr val="F0B81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长上下文重复计算且响应延迟高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75" name="下箭头 74"/>
          <p:cNvSpPr/>
          <p:nvPr/>
        </p:nvSpPr>
        <p:spPr>
          <a:xfrm rot="10800000">
            <a:off x="2804160" y="4613910"/>
            <a:ext cx="254000" cy="292100"/>
          </a:xfrm>
          <a:prstGeom prst="downArrow">
            <a:avLst/>
          </a:prstGeom>
          <a:solidFill>
            <a:srgbClr val="FBD662"/>
          </a:solidFill>
          <a:ln>
            <a:solidFill>
              <a:srgbClr val="B28C2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75"/>
          <p:cNvSpPr txBox="1"/>
          <p:nvPr/>
        </p:nvSpPr>
        <p:spPr>
          <a:xfrm>
            <a:off x="3027680" y="4615180"/>
            <a:ext cx="8255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>
                <a:sym typeface="+mn-ea"/>
              </a:rPr>
              <a:t>瓶颈牵引</a:t>
            </a:r>
            <a:endParaRPr lang="zh-CN" altLang="en-US" sz="1200" b="1">
              <a:sym typeface="+mn-ea"/>
            </a:endParaRPr>
          </a:p>
        </p:txBody>
      </p:sp>
      <p:sp>
        <p:nvSpPr>
          <p:cNvPr id="77" name="下箭头 76"/>
          <p:cNvSpPr/>
          <p:nvPr/>
        </p:nvSpPr>
        <p:spPr>
          <a:xfrm rot="10800000">
            <a:off x="5668645" y="4613910"/>
            <a:ext cx="254000" cy="292100"/>
          </a:xfrm>
          <a:prstGeom prst="downArrow">
            <a:avLst/>
          </a:prstGeom>
          <a:solidFill>
            <a:srgbClr val="FBD662"/>
          </a:solidFill>
          <a:ln>
            <a:solidFill>
              <a:srgbClr val="B28C2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5892165" y="4615180"/>
            <a:ext cx="8255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>
                <a:sym typeface="+mn-ea"/>
              </a:rPr>
              <a:t>瓶颈牵引</a:t>
            </a:r>
            <a:endParaRPr lang="zh-CN" altLang="en-US" sz="1200" b="1">
              <a:sym typeface="+mn-ea"/>
            </a:endParaRPr>
          </a:p>
        </p:txBody>
      </p:sp>
      <p:sp>
        <p:nvSpPr>
          <p:cNvPr id="79" name="下箭头 78"/>
          <p:cNvSpPr/>
          <p:nvPr/>
        </p:nvSpPr>
        <p:spPr>
          <a:xfrm rot="10800000">
            <a:off x="8347075" y="4613910"/>
            <a:ext cx="254000" cy="292100"/>
          </a:xfrm>
          <a:prstGeom prst="downArrow">
            <a:avLst/>
          </a:prstGeom>
          <a:solidFill>
            <a:srgbClr val="FBD662"/>
          </a:solidFill>
          <a:ln>
            <a:solidFill>
              <a:srgbClr val="B28C2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79"/>
          <p:cNvSpPr txBox="1"/>
          <p:nvPr/>
        </p:nvSpPr>
        <p:spPr>
          <a:xfrm>
            <a:off x="8570595" y="4615180"/>
            <a:ext cx="8255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>
                <a:sym typeface="+mn-ea"/>
              </a:rPr>
              <a:t>瓶颈牵引</a:t>
            </a:r>
            <a:endParaRPr lang="zh-CN" altLang="en-US" sz="1200" b="1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</Words>
  <Application>WPS 演示</Application>
  <PresentationFormat>宽屏</PresentationFormat>
  <Paragraphs>91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闵甜</cp:lastModifiedBy>
  <cp:revision>157</cp:revision>
  <dcterms:created xsi:type="dcterms:W3CDTF">2019-06-19T02:08:00Z</dcterms:created>
  <dcterms:modified xsi:type="dcterms:W3CDTF">2026-05-07T12:16:46Z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EA7B97DF04E64577A0A3CC0F362C4A62_11</vt:lpwstr>
  </property>
</Properties>
</file>